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257" r:id="rId3"/>
    <p:sldId id="258" r:id="rId4"/>
    <p:sldId id="259" r:id="rId5"/>
    <p:sldId id="274" r:id="rId6"/>
    <p:sldId id="299" r:id="rId7"/>
    <p:sldId id="278" r:id="rId8"/>
    <p:sldId id="280" r:id="rId9"/>
    <p:sldId id="283" r:id="rId10"/>
    <p:sldId id="286" r:id="rId11"/>
    <p:sldId id="271" r:id="rId12"/>
    <p:sldId id="281" r:id="rId13"/>
    <p:sldId id="287" r:id="rId14"/>
    <p:sldId id="289" r:id="rId15"/>
    <p:sldId id="288" r:id="rId16"/>
    <p:sldId id="293" r:id="rId17"/>
    <p:sldId id="294" r:id="rId18"/>
    <p:sldId id="290" r:id="rId19"/>
    <p:sldId id="291" r:id="rId20"/>
    <p:sldId id="268" r:id="rId21"/>
    <p:sldId id="269" r:id="rId22"/>
  </p:sldIdLst>
  <p:sldSz cx="10058400" cy="7772400"/>
  <p:notesSz cx="10058400" cy="7772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44D317-D994-41FC-96B3-517D01AF2FC9}" v="64" dt="2026-04-04T19:14:35.275"/>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244" autoAdjust="0"/>
    <p:restoredTop sz="94660"/>
  </p:normalViewPr>
  <p:slideViewPr>
    <p:cSldViewPr>
      <p:cViewPr varScale="1">
        <p:scale>
          <a:sx n="69" d="100"/>
          <a:sy n="69" d="100"/>
        </p:scale>
        <p:origin x="1954"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0B419B0A-DB98-47ED-A0D2-B47FD394FE07}" type="datetimeFigureOut">
              <a:rPr lang="en-IN" smtClean="0"/>
              <a:t>07-04-2026</a:t>
            </a:fld>
            <a:endParaRPr lang="en-IN"/>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67E471F2-2083-493A-8C9E-53209FFA1EC8}" type="slidenum">
              <a:rPr lang="en-IN" smtClean="0"/>
              <a:t>‹#›</a:t>
            </a:fld>
            <a:endParaRPr lang="en-IN"/>
          </a:p>
        </p:txBody>
      </p:sp>
    </p:spTree>
    <p:extLst>
      <p:ext uri="{BB962C8B-B14F-4D97-AF65-F5344CB8AC3E}">
        <p14:creationId xmlns:p14="http://schemas.microsoft.com/office/powerpoint/2010/main" val="446813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A07A5-14C6-E585-8655-9D9D52E50E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A451EA-1440-E913-BE4A-B614B423C8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2B861F-0E31-A9FE-3DE3-C88AA9FDC23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BB3FD6E-6CD7-73E7-5843-F5D2AC9D0C79}"/>
              </a:ext>
            </a:extLst>
          </p:cNvPr>
          <p:cNvSpPr>
            <a:spLocks noGrp="1"/>
          </p:cNvSpPr>
          <p:nvPr>
            <p:ph type="sldNum" sz="quarter" idx="10"/>
          </p:nvPr>
        </p:nvSpPr>
        <p:spPr/>
        <p:txBody>
          <a:bodyPr/>
          <a:lstStyle/>
          <a:p>
            <a:fld id="{67E471F2-2083-493A-8C9E-53209FFA1EC8}" type="slidenum">
              <a:rPr lang="en-IN" smtClean="0"/>
              <a:t>8</a:t>
            </a:fld>
            <a:endParaRPr lang="en-IN"/>
          </a:p>
        </p:txBody>
      </p:sp>
    </p:spTree>
    <p:extLst>
      <p:ext uri="{BB962C8B-B14F-4D97-AF65-F5344CB8AC3E}">
        <p14:creationId xmlns:p14="http://schemas.microsoft.com/office/powerpoint/2010/main" val="37661188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D6944-C75D-642A-33EC-861C4C9EE3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B92471-DA30-4B37-FCA6-6EF20124DB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1FE530-0FC2-EC25-4907-8124FE661A5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03AE0AE-6066-70F2-58D0-DE497EDE96FC}"/>
              </a:ext>
            </a:extLst>
          </p:cNvPr>
          <p:cNvSpPr>
            <a:spLocks noGrp="1"/>
          </p:cNvSpPr>
          <p:nvPr>
            <p:ph type="sldNum" sz="quarter" idx="10"/>
          </p:nvPr>
        </p:nvSpPr>
        <p:spPr/>
        <p:txBody>
          <a:bodyPr/>
          <a:lstStyle/>
          <a:p>
            <a:fld id="{67E471F2-2083-493A-8C9E-53209FFA1EC8}" type="slidenum">
              <a:rPr lang="en-IN" smtClean="0"/>
              <a:t>9</a:t>
            </a:fld>
            <a:endParaRPr lang="en-IN"/>
          </a:p>
        </p:txBody>
      </p:sp>
    </p:spTree>
    <p:extLst>
      <p:ext uri="{BB962C8B-B14F-4D97-AF65-F5344CB8AC3E}">
        <p14:creationId xmlns:p14="http://schemas.microsoft.com/office/powerpoint/2010/main" val="36370596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139B1-A475-4CBB-3C79-9D26E5A866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1C7ED2-D36F-F380-B914-E293551BC2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291147-730F-8489-F314-EBBEE6FC150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B461C2B-CF90-5661-FD6B-4743F3CA884B}"/>
              </a:ext>
            </a:extLst>
          </p:cNvPr>
          <p:cNvSpPr>
            <a:spLocks noGrp="1"/>
          </p:cNvSpPr>
          <p:nvPr>
            <p:ph type="sldNum" sz="quarter" idx="10"/>
          </p:nvPr>
        </p:nvSpPr>
        <p:spPr/>
        <p:txBody>
          <a:bodyPr/>
          <a:lstStyle/>
          <a:p>
            <a:fld id="{67E471F2-2083-493A-8C9E-53209FFA1EC8}" type="slidenum">
              <a:rPr lang="en-IN" smtClean="0"/>
              <a:t>10</a:t>
            </a:fld>
            <a:endParaRPr lang="en-IN"/>
          </a:p>
        </p:txBody>
      </p:sp>
    </p:spTree>
    <p:extLst>
      <p:ext uri="{BB962C8B-B14F-4D97-AF65-F5344CB8AC3E}">
        <p14:creationId xmlns:p14="http://schemas.microsoft.com/office/powerpoint/2010/main" val="16882209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7E471F2-2083-493A-8C9E-53209FFA1EC8}" type="slidenum">
              <a:rPr lang="en-IN" smtClean="0"/>
              <a:t>11</a:t>
            </a:fld>
            <a:endParaRPr lang="en-IN"/>
          </a:p>
        </p:txBody>
      </p:sp>
    </p:spTree>
    <p:extLst>
      <p:ext uri="{BB962C8B-B14F-4D97-AF65-F5344CB8AC3E}">
        <p14:creationId xmlns:p14="http://schemas.microsoft.com/office/powerpoint/2010/main" val="20061069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CE3C7-4CAC-83C5-06C3-42A79AAC39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C8F73F-5430-C4C7-24B7-978CB7B2CD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AD4E0F-8063-6714-0B2B-C4C7BFB3BB0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6220EE7-BED2-805A-A166-2B514D3FD98E}"/>
              </a:ext>
            </a:extLst>
          </p:cNvPr>
          <p:cNvSpPr>
            <a:spLocks noGrp="1"/>
          </p:cNvSpPr>
          <p:nvPr>
            <p:ph type="sldNum" sz="quarter" idx="10"/>
          </p:nvPr>
        </p:nvSpPr>
        <p:spPr/>
        <p:txBody>
          <a:bodyPr/>
          <a:lstStyle/>
          <a:p>
            <a:fld id="{67E471F2-2083-493A-8C9E-53209FFA1EC8}" type="slidenum">
              <a:rPr lang="en-IN" smtClean="0"/>
              <a:t>12</a:t>
            </a:fld>
            <a:endParaRPr lang="en-IN"/>
          </a:p>
        </p:txBody>
      </p:sp>
    </p:spTree>
    <p:extLst>
      <p:ext uri="{BB962C8B-B14F-4D97-AF65-F5344CB8AC3E}">
        <p14:creationId xmlns:p14="http://schemas.microsoft.com/office/powerpoint/2010/main" val="3401301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565D4-DEED-8F77-7875-441F7EC657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20EE74-7167-873A-95DE-2209D38A4B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CB17A6-C5DF-DF2F-3449-59AE0E1E523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2A6B2E7-A9E4-7C60-5E8B-7C360EA4C31A}"/>
              </a:ext>
            </a:extLst>
          </p:cNvPr>
          <p:cNvSpPr>
            <a:spLocks noGrp="1"/>
          </p:cNvSpPr>
          <p:nvPr>
            <p:ph type="sldNum" sz="quarter" idx="10"/>
          </p:nvPr>
        </p:nvSpPr>
        <p:spPr/>
        <p:txBody>
          <a:bodyPr/>
          <a:lstStyle/>
          <a:p>
            <a:fld id="{67E471F2-2083-493A-8C9E-53209FFA1EC8}" type="slidenum">
              <a:rPr lang="en-IN" smtClean="0"/>
              <a:t>13</a:t>
            </a:fld>
            <a:endParaRPr lang="en-IN"/>
          </a:p>
        </p:txBody>
      </p:sp>
    </p:spTree>
    <p:extLst>
      <p:ext uri="{BB962C8B-B14F-4D97-AF65-F5344CB8AC3E}">
        <p14:creationId xmlns:p14="http://schemas.microsoft.com/office/powerpoint/2010/main" val="113217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78334-1E7C-9B5D-22F4-8A0874D2C7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CA05E5-57D3-9020-E1E8-13EECF182C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DE5D61-29D8-36CA-3B49-ED30EB6DC96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6A6CBA9-998B-04E1-4DEE-A9C50489770F}"/>
              </a:ext>
            </a:extLst>
          </p:cNvPr>
          <p:cNvSpPr>
            <a:spLocks noGrp="1"/>
          </p:cNvSpPr>
          <p:nvPr>
            <p:ph type="sldNum" sz="quarter" idx="10"/>
          </p:nvPr>
        </p:nvSpPr>
        <p:spPr/>
        <p:txBody>
          <a:bodyPr/>
          <a:lstStyle/>
          <a:p>
            <a:fld id="{67E471F2-2083-493A-8C9E-53209FFA1EC8}" type="slidenum">
              <a:rPr lang="en-IN" smtClean="0"/>
              <a:t>14</a:t>
            </a:fld>
            <a:endParaRPr lang="en-IN"/>
          </a:p>
        </p:txBody>
      </p:sp>
    </p:spTree>
    <p:extLst>
      <p:ext uri="{BB962C8B-B14F-4D97-AF65-F5344CB8AC3E}">
        <p14:creationId xmlns:p14="http://schemas.microsoft.com/office/powerpoint/2010/main" val="37506980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0228F-58ED-A8A9-83F6-417BF9E8F1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6092AC-450B-ED20-CC0E-863B8D3FB2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5D67FF-E9BF-B02A-BB9A-F8D92EE150D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648B14A-9DA2-06A7-BD4E-CC42A4DF4C5A}"/>
              </a:ext>
            </a:extLst>
          </p:cNvPr>
          <p:cNvSpPr>
            <a:spLocks noGrp="1"/>
          </p:cNvSpPr>
          <p:nvPr>
            <p:ph type="sldNum" sz="quarter" idx="10"/>
          </p:nvPr>
        </p:nvSpPr>
        <p:spPr/>
        <p:txBody>
          <a:bodyPr/>
          <a:lstStyle/>
          <a:p>
            <a:fld id="{67E471F2-2083-493A-8C9E-53209FFA1EC8}" type="slidenum">
              <a:rPr lang="en-IN" smtClean="0"/>
              <a:t>15</a:t>
            </a:fld>
            <a:endParaRPr lang="en-IN"/>
          </a:p>
        </p:txBody>
      </p:sp>
    </p:spTree>
    <p:extLst>
      <p:ext uri="{BB962C8B-B14F-4D97-AF65-F5344CB8AC3E}">
        <p14:creationId xmlns:p14="http://schemas.microsoft.com/office/powerpoint/2010/main" val="9187341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p:txBody>
          <a:bodyPr lIns="0" tIns="0" rIns="0" bIns="0"/>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4/7/2026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4/7/2026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648056" y="258722"/>
            <a:ext cx="4601366" cy="704793"/>
          </a:xfrm>
          <a:prstGeom prst="rect">
            <a:avLst/>
          </a:prstGeom>
        </p:spPr>
      </p:pic>
      <p:pic>
        <p:nvPicPr>
          <p:cNvPr id="17" name="bg object 17"/>
          <p:cNvPicPr/>
          <p:nvPr/>
        </p:nvPicPr>
        <p:blipFill>
          <a:blip r:embed="rId3" cstate="print"/>
          <a:stretch>
            <a:fillRect/>
          </a:stretch>
        </p:blipFill>
        <p:spPr>
          <a:xfrm>
            <a:off x="2530316" y="125730"/>
            <a:ext cx="4997767" cy="1045130"/>
          </a:xfrm>
          <a:prstGeom prst="rect">
            <a:avLst/>
          </a:prstGeom>
        </p:spPr>
      </p:pic>
      <p:pic>
        <p:nvPicPr>
          <p:cNvPr id="18" name="bg object 18"/>
          <p:cNvPicPr/>
          <p:nvPr/>
        </p:nvPicPr>
        <p:blipFill>
          <a:blip r:embed="rId4" cstate="print"/>
          <a:stretch>
            <a:fillRect/>
          </a:stretch>
        </p:blipFill>
        <p:spPr>
          <a:xfrm>
            <a:off x="2663904" y="251407"/>
            <a:ext cx="4577410" cy="506849"/>
          </a:xfrm>
          <a:prstGeom prst="rect">
            <a:avLst/>
          </a:prstGeom>
        </p:spPr>
      </p:pic>
      <p:sp>
        <p:nvSpPr>
          <p:cNvPr id="19" name="bg object 19"/>
          <p:cNvSpPr/>
          <p:nvPr/>
        </p:nvSpPr>
        <p:spPr>
          <a:xfrm>
            <a:off x="2718911" y="290750"/>
            <a:ext cx="4471670" cy="400685"/>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a:p>
        </p:txBody>
      </p:sp>
      <p:pic>
        <p:nvPicPr>
          <p:cNvPr id="20" name="bg object 20"/>
          <p:cNvPicPr/>
          <p:nvPr/>
        </p:nvPicPr>
        <p:blipFill>
          <a:blip r:embed="rId5" cstate="print"/>
          <a:stretch>
            <a:fillRect/>
          </a:stretch>
        </p:blipFill>
        <p:spPr>
          <a:xfrm>
            <a:off x="3292554" y="282840"/>
            <a:ext cx="3375117" cy="569714"/>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4/7/2026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30970" y="881554"/>
            <a:ext cx="2528570" cy="37528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a:xfrm>
            <a:off x="621188" y="1409149"/>
            <a:ext cx="8949055" cy="3294379"/>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4/7/2026</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8.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8.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93969" y="211046"/>
            <a:ext cx="4610910" cy="628649"/>
          </a:xfrm>
          <a:prstGeom prst="rect">
            <a:avLst/>
          </a:prstGeom>
        </p:spPr>
      </p:pic>
      <p:sp>
        <p:nvSpPr>
          <p:cNvPr id="3" name="object 3"/>
          <p:cNvSpPr txBox="1">
            <a:spLocks noGrp="1"/>
          </p:cNvSpPr>
          <p:nvPr>
            <p:ph type="title"/>
          </p:nvPr>
        </p:nvSpPr>
        <p:spPr>
          <a:xfrm>
            <a:off x="1447800" y="1076308"/>
            <a:ext cx="7467599" cy="1012585"/>
          </a:xfrm>
          <a:prstGeom prst="rect">
            <a:avLst/>
          </a:prstGeom>
        </p:spPr>
        <p:txBody>
          <a:bodyPr vert="horz" wrap="square" lIns="0" tIns="11430" rIns="0" bIns="0" rtlCol="0">
            <a:spAutoFit/>
          </a:bodyPr>
          <a:lstStyle/>
          <a:p>
            <a:pPr marL="12700" algn="ctr">
              <a:lnSpc>
                <a:spcPct val="150000"/>
              </a:lnSpc>
              <a:spcBef>
                <a:spcPts val="90"/>
              </a:spcBef>
            </a:pPr>
            <a:r>
              <a:rPr lang="en-IN" sz="2400" spc="-10" dirty="0">
                <a:latin typeface="Times New Roman" panose="02020603050405020304" pitchFamily="18" charset="0"/>
                <a:cs typeface="Times New Roman" panose="02020603050405020304" pitchFamily="18" charset="0"/>
              </a:rPr>
              <a:t>Advance Mern Stack Development Cornerstone Project</a:t>
            </a:r>
            <a:br>
              <a:rPr lang="en-IN" sz="2200" spc="-10" dirty="0">
                <a:latin typeface="Times New Roman" panose="02020603050405020304" pitchFamily="18" charset="0"/>
                <a:cs typeface="Times New Roman" panose="02020603050405020304" pitchFamily="18" charset="0"/>
              </a:rPr>
            </a:br>
            <a:r>
              <a:rPr lang="en-IN" sz="2200" spc="-10" dirty="0">
                <a:latin typeface="Times New Roman" panose="02020603050405020304" pitchFamily="18" charset="0"/>
                <a:cs typeface="Times New Roman" panose="02020603050405020304" pitchFamily="18" charset="0"/>
              </a:rPr>
              <a:t>Final Review</a:t>
            </a:r>
            <a:endParaRPr sz="2200" spc="-10" dirty="0">
              <a:latin typeface="Times New Roman" panose="02020603050405020304" pitchFamily="18" charset="0"/>
              <a:cs typeface="Times New Roman" panose="02020603050405020304" pitchFamily="18" charset="0"/>
            </a:endParaRPr>
          </a:p>
        </p:txBody>
      </p:sp>
      <p:sp>
        <p:nvSpPr>
          <p:cNvPr id="4" name="object 4"/>
          <p:cNvSpPr txBox="1">
            <a:spLocks noGrp="1"/>
          </p:cNvSpPr>
          <p:nvPr>
            <p:ph type="body" idx="1"/>
          </p:nvPr>
        </p:nvSpPr>
        <p:spPr>
          <a:xfrm>
            <a:off x="653494" y="2514600"/>
            <a:ext cx="8751412" cy="4179349"/>
          </a:xfrm>
          <a:prstGeom prst="rect">
            <a:avLst/>
          </a:prstGeom>
        </p:spPr>
        <p:txBody>
          <a:bodyPr vert="horz" wrap="square" lIns="0" tIns="16510" rIns="0" bIns="0" rtlCol="0">
            <a:spAutoFit/>
          </a:bodyPr>
          <a:lstStyle/>
          <a:p>
            <a:pPr algn="ctr">
              <a:lnSpc>
                <a:spcPct val="100000"/>
              </a:lnSpc>
              <a:spcBef>
                <a:spcPts val="130"/>
              </a:spcBef>
            </a:pPr>
            <a:r>
              <a:rPr lang="en-US" sz="2800" dirty="0"/>
              <a:t>Student Attendance Monitoring System</a:t>
            </a:r>
          </a:p>
          <a:p>
            <a:pPr algn="ctr">
              <a:lnSpc>
                <a:spcPct val="100000"/>
              </a:lnSpc>
              <a:spcBef>
                <a:spcPts val="130"/>
              </a:spcBef>
            </a:pPr>
            <a:endParaRPr lang="en-US" sz="2400"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lang="en-US" sz="2800" dirty="0">
                <a:solidFill>
                  <a:srgbClr val="FF0000"/>
                </a:solidFill>
                <a:latin typeface="Times New Roman" panose="02020603050405020304" pitchFamily="18" charset="0"/>
                <a:cs typeface="Times New Roman" panose="02020603050405020304" pitchFamily="18" charset="0"/>
              </a:rPr>
              <a:t>Presented</a:t>
            </a:r>
            <a:r>
              <a:rPr lang="en-US" sz="2800" spc="80" dirty="0">
                <a:solidFill>
                  <a:srgbClr val="FF0000"/>
                </a:solidFill>
                <a:latin typeface="Times New Roman" panose="02020603050405020304" pitchFamily="18" charset="0"/>
                <a:cs typeface="Times New Roman" panose="02020603050405020304" pitchFamily="18" charset="0"/>
              </a:rPr>
              <a:t> </a:t>
            </a:r>
            <a:r>
              <a:rPr lang="en-US" sz="2800" spc="-25" dirty="0">
                <a:solidFill>
                  <a:srgbClr val="FF0000"/>
                </a:solidFill>
                <a:latin typeface="Times New Roman" panose="02020603050405020304" pitchFamily="18" charset="0"/>
                <a:cs typeface="Times New Roman" panose="02020603050405020304" pitchFamily="18" charset="0"/>
              </a:rPr>
              <a:t>by</a:t>
            </a:r>
          </a:p>
          <a:p>
            <a:pPr algn="ctr">
              <a:lnSpc>
                <a:spcPct val="100000"/>
              </a:lnSpc>
              <a:spcBef>
                <a:spcPts val="130"/>
              </a:spcBef>
            </a:pPr>
            <a:endParaRPr lang="en-US" sz="10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lang="en-US" sz="2400" spc="-10" dirty="0">
                <a:solidFill>
                  <a:srgbClr val="17375E"/>
                </a:solidFill>
                <a:latin typeface="Times New Roman" panose="02020603050405020304" pitchFamily="18" charset="0"/>
                <a:cs typeface="Times New Roman" panose="02020603050405020304" pitchFamily="18" charset="0"/>
              </a:rPr>
              <a:t>  Mr. K. Sai Rahul(25B21CS043)</a:t>
            </a:r>
          </a:p>
          <a:p>
            <a:pPr marL="3810" algn="ctr">
              <a:lnSpc>
                <a:spcPct val="100000"/>
              </a:lnSpc>
              <a:spcBef>
                <a:spcPts val="750"/>
              </a:spcBef>
            </a:pPr>
            <a:r>
              <a:rPr lang="en-US" sz="2400" spc="-10" dirty="0">
                <a:solidFill>
                  <a:srgbClr val="17375E"/>
                </a:solidFill>
                <a:latin typeface="Times New Roman" panose="02020603050405020304" pitchFamily="18" charset="0"/>
                <a:cs typeface="Times New Roman" panose="02020603050405020304" pitchFamily="18" charset="0"/>
              </a:rPr>
              <a:t>            Mr. M . Durga Prasad (25B21CS079)</a:t>
            </a:r>
          </a:p>
          <a:p>
            <a:pPr marL="3810" algn="ctr">
              <a:lnSpc>
                <a:spcPct val="100000"/>
              </a:lnSpc>
              <a:spcBef>
                <a:spcPts val="750"/>
              </a:spcBef>
            </a:pPr>
            <a:r>
              <a:rPr lang="en-US" sz="2400" spc="-10" dirty="0">
                <a:solidFill>
                  <a:srgbClr val="17375E"/>
                </a:solidFill>
                <a:latin typeface="Times New Roman" panose="02020603050405020304" pitchFamily="18" charset="0"/>
                <a:cs typeface="Times New Roman" panose="02020603050405020304" pitchFamily="18" charset="0"/>
              </a:rPr>
              <a:t>  Ms. M . Akshaya(24B11CS269)</a:t>
            </a:r>
          </a:p>
          <a:p>
            <a:pPr marL="3810" algn="ctr">
              <a:lnSpc>
                <a:spcPct val="100000"/>
              </a:lnSpc>
              <a:spcBef>
                <a:spcPts val="750"/>
              </a:spcBef>
            </a:pPr>
            <a:r>
              <a:rPr lang="en-US" sz="2400" spc="-10" dirty="0">
                <a:solidFill>
                  <a:srgbClr val="17375E"/>
                </a:solidFill>
                <a:latin typeface="Times New Roman" panose="02020603050405020304" pitchFamily="18" charset="0"/>
                <a:cs typeface="Times New Roman" panose="02020603050405020304" pitchFamily="18" charset="0"/>
              </a:rPr>
              <a:t>Ms. K . Anusha(24B11CS200)</a:t>
            </a:r>
            <a:endParaRPr lang="en-US" sz="2000" spc="-10" dirty="0">
              <a:latin typeface="Times New Roman" panose="02020603050405020304" pitchFamily="18" charset="0"/>
              <a:cs typeface="Times New Roman" panose="02020603050405020304" pitchFamily="18" charset="0"/>
            </a:endParaRPr>
          </a:p>
          <a:p>
            <a:pPr marL="1270" algn="ctr">
              <a:lnSpc>
                <a:spcPct val="100000"/>
              </a:lnSpc>
              <a:spcBef>
                <a:spcPts val="994"/>
              </a:spcBef>
            </a:pPr>
            <a:r>
              <a:rPr lang="en-US" sz="2800" dirty="0">
                <a:solidFill>
                  <a:srgbClr val="943735"/>
                </a:solidFill>
                <a:latin typeface="Times New Roman" panose="02020603050405020304" pitchFamily="18" charset="0"/>
                <a:cs typeface="Times New Roman" panose="02020603050405020304" pitchFamily="18" charset="0"/>
              </a:rPr>
              <a:t>Department</a:t>
            </a:r>
            <a:r>
              <a:rPr lang="en-US" sz="2800" spc="-60" dirty="0">
                <a:solidFill>
                  <a:srgbClr val="943735"/>
                </a:solidFill>
                <a:latin typeface="Times New Roman" panose="02020603050405020304" pitchFamily="18" charset="0"/>
                <a:cs typeface="Times New Roman" panose="02020603050405020304" pitchFamily="18" charset="0"/>
              </a:rPr>
              <a:t> </a:t>
            </a:r>
            <a:r>
              <a:rPr lang="en-US" sz="2800" dirty="0">
                <a:solidFill>
                  <a:srgbClr val="943735"/>
                </a:solidFill>
                <a:latin typeface="Times New Roman" panose="02020603050405020304" pitchFamily="18" charset="0"/>
                <a:cs typeface="Times New Roman" panose="02020603050405020304" pitchFamily="18" charset="0"/>
              </a:rPr>
              <a:t>of Computer Science Engineering</a:t>
            </a:r>
            <a:endParaRPr lang="en-US" sz="2800" spc="-10" dirty="0">
              <a:solidFill>
                <a:srgbClr val="943735"/>
              </a:solidFill>
              <a:latin typeface="Times New Roman" panose="02020603050405020304" pitchFamily="18" charset="0"/>
              <a:cs typeface="Times New Roman" panose="02020603050405020304" pitchFamily="18" charset="0"/>
            </a:endParaRPr>
          </a:p>
          <a:p>
            <a:pPr marL="1270" algn="ctr">
              <a:lnSpc>
                <a:spcPct val="100000"/>
              </a:lnSpc>
              <a:spcBef>
                <a:spcPts val="994"/>
              </a:spcBef>
            </a:pPr>
            <a:endParaRPr lang="en-IN" sz="1650" spc="-10" dirty="0">
              <a:solidFill>
                <a:srgbClr val="943735"/>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90750" y="204311"/>
            <a:ext cx="1163002" cy="424338"/>
          </a:xfrm>
          <a:prstGeom prst="rect">
            <a:avLst/>
          </a:prstGeom>
        </p:spPr>
      </p:pic>
      <p:sp>
        <p:nvSpPr>
          <p:cNvPr id="4" name="object 4"/>
          <p:cNvSpPr txBox="1"/>
          <p:nvPr/>
        </p:nvSpPr>
        <p:spPr>
          <a:xfrm>
            <a:off x="1260408" y="1191211"/>
            <a:ext cx="3770980" cy="5495094"/>
          </a:xfrm>
          <a:prstGeom prst="rect">
            <a:avLst/>
          </a:prstGeom>
        </p:spPr>
        <p:txBody>
          <a:bodyPr vert="horz" wrap="square" lIns="0" tIns="16510" rIns="0" bIns="0" rtlCol="0">
            <a:spAutoFit/>
          </a:bodyPr>
          <a:lstStyle/>
          <a:p>
            <a:pPr marL="389890" indent="-377190">
              <a:lnSpc>
                <a:spcPct val="100000"/>
              </a:lnSpc>
              <a:spcBef>
                <a:spcPts val="130"/>
              </a:spcBef>
              <a:buFont typeface="Cambria"/>
              <a:buAutoNum type="arabicPeriod"/>
              <a:tabLst>
                <a:tab pos="389890" algn="l"/>
              </a:tabLst>
            </a:pPr>
            <a:r>
              <a:rPr lang="en-IN" sz="2400" spc="-10" dirty="0">
                <a:latin typeface="Times New Roman" panose="02020603050405020304" pitchFamily="18" charset="0"/>
                <a:cs typeface="Times New Roman" panose="02020603050405020304" pitchFamily="18" charset="0"/>
              </a:rPr>
              <a:t>Abstract</a:t>
            </a:r>
            <a:endParaRPr sz="2400" dirty="0">
              <a:latin typeface="Times New Roman" panose="02020603050405020304" pitchFamily="18" charset="0"/>
              <a:cs typeface="Times New Roman" panose="02020603050405020304" pitchFamily="18" charset="0"/>
            </a:endParaRP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Introduction</a:t>
            </a: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System Analysis</a:t>
            </a:r>
            <a:endParaRPr sz="2400" dirty="0">
              <a:latin typeface="Times New Roman" panose="02020603050405020304" pitchFamily="18" charset="0"/>
              <a:cs typeface="Times New Roman" panose="02020603050405020304" pitchFamily="18" charset="0"/>
            </a:endParaRP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Database Design</a:t>
            </a: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System Design</a:t>
            </a:r>
          </a:p>
          <a:p>
            <a:pPr marL="389890" indent="-377190">
              <a:lnSpc>
                <a:spcPct val="100000"/>
              </a:lnSpc>
              <a:spcBef>
                <a:spcPts val="2060"/>
              </a:spcBef>
              <a:buAutoNum type="arabicPeriod"/>
              <a:tabLst>
                <a:tab pos="389890" algn="l"/>
              </a:tabLst>
            </a:pPr>
            <a:r>
              <a:rPr lang="en-IN" sz="2400" spc="50" dirty="0">
                <a:latin typeface="Times New Roman" panose="02020603050405020304" pitchFamily="18" charset="0"/>
                <a:cs typeface="Times New Roman" panose="02020603050405020304" pitchFamily="18" charset="0"/>
              </a:rPr>
              <a:t>System Implementation</a:t>
            </a:r>
          </a:p>
          <a:p>
            <a:pPr marL="389890" indent="-377190">
              <a:spcBef>
                <a:spcPts val="2060"/>
              </a:spcBef>
              <a:buFontTx/>
              <a:buAutoNum type="arabicPeriod"/>
              <a:tabLst>
                <a:tab pos="389890" algn="l"/>
              </a:tabLst>
            </a:pPr>
            <a:r>
              <a:rPr lang="en-IN" sz="2400" spc="50" dirty="0">
                <a:latin typeface="Times New Roman" panose="02020603050405020304" pitchFamily="18" charset="0"/>
                <a:cs typeface="Times New Roman" panose="02020603050405020304" pitchFamily="18" charset="0"/>
              </a:rPr>
              <a:t>Future Enhancements</a:t>
            </a:r>
          </a:p>
          <a:p>
            <a:pPr marL="389890" indent="-377190">
              <a:spcBef>
                <a:spcPts val="2060"/>
              </a:spcBef>
              <a:buFontTx/>
              <a:buAutoNum type="arabicPeriod"/>
              <a:tabLst>
                <a:tab pos="389890" algn="l"/>
              </a:tabLst>
            </a:pPr>
            <a:r>
              <a:rPr lang="en-IN" sz="2400" spc="50" dirty="0">
                <a:latin typeface="Times New Roman" panose="02020603050405020304" pitchFamily="18" charset="0"/>
                <a:cs typeface="Times New Roman" panose="02020603050405020304" pitchFamily="18" charset="0"/>
              </a:rPr>
              <a:t>References</a:t>
            </a:r>
          </a:p>
          <a:p>
            <a:pPr marL="389890" indent="-377190">
              <a:spcBef>
                <a:spcPts val="2060"/>
              </a:spcBef>
              <a:buFontTx/>
              <a:buAutoNum type="arabicPeriod"/>
              <a:tabLst>
                <a:tab pos="389890" algn="l"/>
              </a:tabLst>
            </a:pPr>
            <a:r>
              <a:rPr lang="en-IN" sz="2400" spc="50" dirty="0">
                <a:latin typeface="Times New Roman" panose="02020603050405020304" pitchFamily="18" charset="0"/>
                <a:cs typeface="Times New Roman" panose="02020603050405020304" pitchFamily="18" charset="0"/>
              </a:rPr>
              <a:t>Conclusion</a:t>
            </a:r>
          </a:p>
        </p:txBody>
      </p:sp>
      <p:grpSp>
        <p:nvGrpSpPr>
          <p:cNvPr id="5" name="object 3"/>
          <p:cNvGrpSpPr/>
          <p:nvPr/>
        </p:nvGrpSpPr>
        <p:grpSpPr>
          <a:xfrm>
            <a:off x="2438400" y="33670"/>
            <a:ext cx="5334000" cy="1198311"/>
            <a:chOff x="2648188" y="47148"/>
            <a:chExt cx="510390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p:cNvSpPr txBox="1">
            <a:spLocks/>
          </p:cNvSpPr>
          <p:nvPr/>
        </p:nvSpPr>
        <p:spPr>
          <a:xfrm>
            <a:off x="3604543" y="286092"/>
            <a:ext cx="2853690" cy="355225"/>
          </a:xfrm>
          <a:prstGeom prst="rect">
            <a:avLst/>
          </a:prstGeom>
        </p:spPr>
        <p:txBody>
          <a:bodyPr vert="horz" wrap="square" lIns="0" tIns="16510" rIns="0" bIns="0" rtlCol="0">
            <a:spAutoFit/>
          </a:bodyPr>
          <a:lstStyle>
            <a:lvl1pPr>
              <a:defRPr>
                <a:latin typeface="+mj-lt"/>
                <a:ea typeface="+mj-ea"/>
                <a:cs typeface="+mj-cs"/>
              </a:defRPr>
            </a:lvl1pPr>
          </a:lstStyle>
          <a:p>
            <a:pPr marL="12700" algn="ctr">
              <a:spcBef>
                <a:spcPts val="130"/>
              </a:spcBef>
            </a:pPr>
            <a:r>
              <a:rPr lang="en-IN" sz="2200" b="1" dirty="0">
                <a:solidFill>
                  <a:schemeClr val="bg1"/>
                </a:solidFill>
                <a:latin typeface="Times New Roman" panose="02020603050405020304" pitchFamily="18" charset="0"/>
                <a:cs typeface="Times New Roman" panose="02020603050405020304" pitchFamily="18" charset="0"/>
              </a:rPr>
              <a:t>Presentation Outline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2667000" y="53695"/>
            <a:ext cx="5103904" cy="1198311"/>
            <a:chOff x="2648188" y="47148"/>
            <a:chExt cx="5103904" cy="1198311"/>
          </a:xfrm>
        </p:grpSpPr>
        <p:pic>
          <p:nvPicPr>
            <p:cNvPr id="4" name="object 4"/>
            <p:cNvPicPr/>
            <p:nvPr/>
          </p:nvPicPr>
          <p:blipFill>
            <a:blip r:embed="rId2" cstate="print"/>
            <a:stretch>
              <a:fillRect/>
            </a:stretch>
          </p:blipFill>
          <p:spPr>
            <a:xfrm>
              <a:off x="2648188" y="47148"/>
              <a:ext cx="5103904" cy="1198311"/>
            </a:xfrm>
            <a:prstGeom prst="rect">
              <a:avLst/>
            </a:prstGeom>
          </p:spPr>
        </p:pic>
        <p:pic>
          <p:nvPicPr>
            <p:cNvPr id="5" name="object 5"/>
            <p:cNvPicPr/>
            <p:nvPr/>
          </p:nvPicPr>
          <p:blipFill>
            <a:blip r:embed="rId3" cstate="print"/>
            <a:stretch>
              <a:fillRect/>
            </a:stretch>
          </p:blipFill>
          <p:spPr>
            <a:xfrm>
              <a:off x="2703195" y="86439"/>
              <a:ext cx="4997767" cy="1092279"/>
            </a:xfrm>
            <a:prstGeom prst="rect">
              <a:avLst/>
            </a:prstGeom>
          </p:spPr>
        </p:pic>
        <p:pic>
          <p:nvPicPr>
            <p:cNvPr id="6" name="object 6"/>
            <p:cNvPicPr/>
            <p:nvPr/>
          </p:nvPicPr>
          <p:blipFill>
            <a:blip r:embed="rId4" cstate="print"/>
            <a:stretch>
              <a:fillRect/>
            </a:stretch>
          </p:blipFill>
          <p:spPr>
            <a:xfrm>
              <a:off x="2828925" y="243549"/>
              <a:ext cx="4585268" cy="522565"/>
            </a:xfrm>
            <a:prstGeom prst="rect">
              <a:avLst/>
            </a:prstGeom>
          </p:spPr>
        </p:pic>
        <p:sp>
          <p:nvSpPr>
            <p:cNvPr id="7"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9" name="object 9"/>
          <p:cNvSpPr txBox="1">
            <a:spLocks noGrp="1"/>
          </p:cNvSpPr>
          <p:nvPr>
            <p:ph type="title"/>
          </p:nvPr>
        </p:nvSpPr>
        <p:spPr>
          <a:xfrm>
            <a:off x="4343400" y="325191"/>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ABSTRACT</a:t>
            </a:r>
          </a:p>
        </p:txBody>
      </p:sp>
      <p:pic>
        <p:nvPicPr>
          <p:cNvPr id="10" name="object 3">
            <a:extLst>
              <a:ext uri="{FF2B5EF4-FFF2-40B4-BE49-F238E27FC236}">
                <a16:creationId xmlns:a16="http://schemas.microsoft.com/office/drawing/2014/main" id="{1B5A0518-1CDA-CA94-327E-0995E9EC2B84}"/>
              </a:ext>
            </a:extLst>
          </p:cNvPr>
          <p:cNvPicPr/>
          <p:nvPr/>
        </p:nvPicPr>
        <p:blipFill>
          <a:blip r:embed="rId5" cstate="print"/>
          <a:stretch>
            <a:fillRect/>
          </a:stretch>
        </p:blipFill>
        <p:spPr>
          <a:xfrm>
            <a:off x="290750" y="204311"/>
            <a:ext cx="1163002" cy="424338"/>
          </a:xfrm>
          <a:prstGeom prst="rect">
            <a:avLst/>
          </a:prstGeom>
        </p:spPr>
      </p:pic>
      <p:sp>
        <p:nvSpPr>
          <p:cNvPr id="13" name="TextBox 12">
            <a:extLst>
              <a:ext uri="{FF2B5EF4-FFF2-40B4-BE49-F238E27FC236}">
                <a16:creationId xmlns:a16="http://schemas.microsoft.com/office/drawing/2014/main" id="{F71F55BA-986F-654A-5E2D-6EB3BA46572D}"/>
              </a:ext>
            </a:extLst>
          </p:cNvPr>
          <p:cNvSpPr txBox="1"/>
          <p:nvPr/>
        </p:nvSpPr>
        <p:spPr>
          <a:xfrm>
            <a:off x="742950" y="1223076"/>
            <a:ext cx="8572500" cy="5575309"/>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dirty="0"/>
              <a:t>The </a:t>
            </a:r>
            <a:r>
              <a:rPr lang="en-US" sz="2000" i="1" dirty="0"/>
              <a:t>Student Attendance Monitoring System</a:t>
            </a:r>
            <a:r>
              <a:rPr lang="en-US" sz="2000" dirty="0"/>
              <a:t> is a web-based application designed to automate and simplify attendance tracking in educational institutions. It replaces manual paper-based methods with a digital, real-time platform that improves accuracy and saves time.</a:t>
            </a:r>
          </a:p>
          <a:p>
            <a:pPr marL="342900" indent="-342900">
              <a:lnSpc>
                <a:spcPct val="150000"/>
              </a:lnSpc>
              <a:buFont typeface="Arial" panose="020B0604020202020204" pitchFamily="34" charset="0"/>
              <a:buChar char="•"/>
            </a:pPr>
            <a:r>
              <a:rPr lang="en-US" sz="2000" dirty="0"/>
              <a:t>The system provides role-based access for Admin, Faculty, and Students. Faculty can mark attendance and view reports, administrators can manage users and subjects, and students can check their own attendance status instantly.</a:t>
            </a:r>
          </a:p>
          <a:p>
            <a:pPr marL="342900" indent="-342900">
              <a:lnSpc>
                <a:spcPct val="150000"/>
              </a:lnSpc>
              <a:buFont typeface="Arial" panose="020B0604020202020204" pitchFamily="34" charset="0"/>
              <a:buChar char="•"/>
            </a:pPr>
            <a:r>
              <a:rPr lang="en-US" sz="2000" dirty="0"/>
              <a:t>Developed using React, Node.js, and MongoDB, the system offers secure login, fast performance, and easy data management. It ensures efficient attendance monitoring, real-time analytics, and a user-friendly interface for all users.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954952" y="344896"/>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INTRODUCTION</a:t>
            </a: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3" name="Rectangle 1">
            <a:extLst>
              <a:ext uri="{FF2B5EF4-FFF2-40B4-BE49-F238E27FC236}">
                <a16:creationId xmlns:a16="http://schemas.microsoft.com/office/drawing/2014/main" id="{4A1C7DBB-049F-688E-7DC4-B93FDBF43E71}"/>
              </a:ext>
            </a:extLst>
          </p:cNvPr>
          <p:cNvSpPr>
            <a:spLocks noChangeArrowheads="1"/>
          </p:cNvSpPr>
          <p:nvPr/>
        </p:nvSpPr>
        <p:spPr bwMode="auto">
          <a:xfrm>
            <a:off x="907375" y="1800272"/>
            <a:ext cx="8427125" cy="4651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nSpc>
                <a:spcPct val="150000"/>
              </a:lnSpc>
              <a:buFont typeface="Arial" panose="020B0604020202020204" pitchFamily="34" charset="0"/>
              <a:buChar char="•"/>
            </a:pPr>
            <a:r>
              <a:rPr lang="en-US" sz="2000" dirty="0"/>
              <a:t>The </a:t>
            </a:r>
            <a:r>
              <a:rPr lang="en-US" sz="2000" i="1" dirty="0"/>
              <a:t>Student Attendance Monitoring System</a:t>
            </a:r>
            <a:r>
              <a:rPr lang="en-US" sz="2000" dirty="0"/>
              <a:t> is a web-based application designed to automate and simplify the attendance tracking process in educational institutions. It replaces manual, paper-based attendance registers with a centralized digital platform that provides real-time attendance updates, analytics, and role-based dashboards.</a:t>
            </a:r>
          </a:p>
          <a:p>
            <a:pPr marL="285750" indent="-285750">
              <a:lnSpc>
                <a:spcPct val="150000"/>
              </a:lnSpc>
              <a:buFont typeface="Arial" panose="020B0604020202020204" pitchFamily="34" charset="0"/>
              <a:buChar char="•"/>
            </a:pPr>
            <a:r>
              <a:rPr lang="en-US" sz="2000" dirty="0"/>
              <a:t>Built using React, Node.js, Express.js, and MongoDB, the system offers secure login, subject-wise attendance marking, instant data updates, and easy report generation. It improves accuracy, reduces administrative workload, and gives students direct visibility into their attendance status.</a:t>
            </a:r>
          </a:p>
        </p:txBody>
      </p:sp>
    </p:spTree>
    <p:extLst>
      <p:ext uri="{BB962C8B-B14F-4D97-AF65-F5344CB8AC3E}">
        <p14:creationId xmlns:p14="http://schemas.microsoft.com/office/powerpoint/2010/main" val="86789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31144" y="87700"/>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917781" y="332823"/>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SYSTEM ANALYSIS</a:t>
            </a: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3" name="Rectangle 1">
            <a:extLst>
              <a:ext uri="{FF2B5EF4-FFF2-40B4-BE49-F238E27FC236}">
                <a16:creationId xmlns:a16="http://schemas.microsoft.com/office/drawing/2014/main" id="{B891B830-9AB8-0176-3994-DAD738921ADB}"/>
              </a:ext>
            </a:extLst>
          </p:cNvPr>
          <p:cNvSpPr>
            <a:spLocks noChangeArrowheads="1"/>
          </p:cNvSpPr>
          <p:nvPr/>
        </p:nvSpPr>
        <p:spPr bwMode="auto">
          <a:xfrm>
            <a:off x="909422" y="1219270"/>
            <a:ext cx="7600157" cy="4992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l" rtl="0" eaLnBrk="0" fontAlgn="base" hangingPunct="0">
              <a:lnSpc>
                <a:spcPct val="200000"/>
              </a:lnSpc>
              <a:spcBef>
                <a:spcPct val="0"/>
              </a:spcBef>
              <a:spcAft>
                <a:spcPct val="0"/>
              </a:spcAft>
              <a:buFontTx/>
              <a:buChar char="•"/>
            </a:pPr>
            <a:r>
              <a:rPr lang="en-US" sz="1800" b="1" dirty="0"/>
              <a:t>2.1 Functional Requirements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User Authentication</a:t>
            </a:r>
            <a:r>
              <a:rPr kumimoji="0" lang="en-US" altLang="en-US" sz="1800" b="0" i="0" u="none" strike="noStrike" cap="none" normalizeH="0" baseline="0" dirty="0">
                <a:ln>
                  <a:noFill/>
                </a:ln>
                <a:solidFill>
                  <a:schemeClr val="tx1"/>
                </a:solidFill>
                <a:effectLst/>
                <a:latin typeface="Arial" panose="020B0604020202020204" pitchFamily="34" charset="0"/>
              </a:rPr>
              <a:t> with role-based access (Admin, Faculty, Student) </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Student Management</a:t>
            </a:r>
            <a:r>
              <a:rPr kumimoji="0" lang="en-US" altLang="en-US" sz="1800" b="0" i="0" u="none" strike="noStrike" cap="none" normalizeH="0" baseline="0" dirty="0">
                <a:ln>
                  <a:noFill/>
                </a:ln>
                <a:solidFill>
                  <a:schemeClr val="tx1"/>
                </a:solidFill>
                <a:effectLst/>
                <a:latin typeface="Arial" panose="020B0604020202020204" pitchFamily="34" charset="0"/>
              </a:rPr>
              <a:t>: Add/update/delete students </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Faculty Management</a:t>
            </a:r>
            <a:r>
              <a:rPr kumimoji="0" lang="en-US" altLang="en-US" sz="1800" b="0" i="0" u="none" strike="noStrike" cap="none" normalizeH="0" baseline="0" dirty="0">
                <a:ln>
                  <a:noFill/>
                </a:ln>
                <a:solidFill>
                  <a:schemeClr val="tx1"/>
                </a:solidFill>
                <a:effectLst/>
                <a:latin typeface="Arial" panose="020B0604020202020204" pitchFamily="34" charset="0"/>
              </a:rPr>
              <a:t>: Manage faculty profiles and assignments </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Subject &amp; Department Management</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Attendance Marking</a:t>
            </a:r>
            <a:r>
              <a:rPr kumimoji="0" lang="en-US" altLang="en-US" sz="1800" b="0" i="0" u="none" strike="noStrike" cap="none" normalizeH="0" baseline="0" dirty="0">
                <a:ln>
                  <a:noFill/>
                </a:ln>
                <a:solidFill>
                  <a:schemeClr val="tx1"/>
                </a:solidFill>
                <a:effectLst/>
                <a:latin typeface="Arial" panose="020B0604020202020204" pitchFamily="34" charset="0"/>
              </a:rPr>
              <a:t> per student, per subject, per date </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Edit/View Attendance</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Attendance Reports</a:t>
            </a:r>
            <a:r>
              <a:rPr kumimoji="0" lang="en-US" altLang="en-US" sz="1800" b="0" i="0" u="none" strike="noStrike" cap="none" normalizeH="0" baseline="0" dirty="0">
                <a:ln>
                  <a:noFill/>
                </a:ln>
                <a:solidFill>
                  <a:schemeClr val="tx1"/>
                </a:solidFill>
                <a:effectLst/>
                <a:latin typeface="Arial" panose="020B0604020202020204" pitchFamily="34" charset="0"/>
              </a:rPr>
              <a:t> (subject-wise, student-wise) </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Student Self Dashboard</a:t>
            </a:r>
            <a:r>
              <a:rPr kumimoji="0" lang="en-US" altLang="en-US" sz="1800" b="0" i="0" u="none" strike="noStrike" cap="none" normalizeH="0" baseline="0" dirty="0">
                <a:ln>
                  <a:noFill/>
                </a:ln>
                <a:solidFill>
                  <a:schemeClr val="tx1"/>
                </a:solidFill>
                <a:effectLst/>
                <a:latin typeface="Arial" panose="020B0604020202020204" pitchFamily="34" charset="0"/>
              </a:rPr>
              <a:t> for viewing personal attendance </a:t>
            </a:r>
          </a:p>
        </p:txBody>
      </p:sp>
    </p:spTree>
    <p:extLst>
      <p:ext uri="{BB962C8B-B14F-4D97-AF65-F5344CB8AC3E}">
        <p14:creationId xmlns:p14="http://schemas.microsoft.com/office/powerpoint/2010/main" val="4273835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3B0B3-4910-253F-88D1-A3A77B8EDC65}"/>
            </a:ext>
          </a:extLst>
        </p:cNvPr>
        <p:cNvGrpSpPr/>
        <p:nvPr/>
      </p:nvGrpSpPr>
      <p:grpSpPr>
        <a:xfrm>
          <a:off x="0" y="0"/>
          <a:ext cx="0" cy="0"/>
          <a:chOff x="0" y="0"/>
          <a:chExt cx="0" cy="0"/>
        </a:xfrm>
      </p:grpSpPr>
      <p:grpSp>
        <p:nvGrpSpPr>
          <p:cNvPr id="4" name="object 3">
            <a:extLst>
              <a:ext uri="{FF2B5EF4-FFF2-40B4-BE49-F238E27FC236}">
                <a16:creationId xmlns:a16="http://schemas.microsoft.com/office/drawing/2014/main" id="{B5701C0C-418A-36B5-BE28-DA7A2F1CA86F}"/>
              </a:ext>
            </a:extLst>
          </p:cNvPr>
          <p:cNvGrpSpPr/>
          <p:nvPr/>
        </p:nvGrpSpPr>
        <p:grpSpPr>
          <a:xfrm>
            <a:off x="2631144" y="87700"/>
            <a:ext cx="5103904" cy="1198311"/>
            <a:chOff x="2648188" y="47148"/>
            <a:chExt cx="5103904" cy="1198311"/>
          </a:xfrm>
        </p:grpSpPr>
        <p:pic>
          <p:nvPicPr>
            <p:cNvPr id="5" name="object 4">
              <a:extLst>
                <a:ext uri="{FF2B5EF4-FFF2-40B4-BE49-F238E27FC236}">
                  <a16:creationId xmlns:a16="http://schemas.microsoft.com/office/drawing/2014/main" id="{790100EE-AA44-7C24-3984-4BFE6C55156D}"/>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7F325986-89F9-67B6-B2BB-FDBA742125A7}"/>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32B43C0C-7765-50D5-ACBF-6F6A1B9D2765}"/>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047BDC9F-6DFF-0445-EB26-FC78E66AB3A8}"/>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F2B31665-3157-6393-86B3-AD77E0633B1C}"/>
              </a:ext>
            </a:extLst>
          </p:cNvPr>
          <p:cNvSpPr txBox="1"/>
          <p:nvPr/>
        </p:nvSpPr>
        <p:spPr>
          <a:xfrm>
            <a:off x="3917781" y="332823"/>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SYSTEM ANALYSIS</a:t>
            </a:r>
          </a:p>
        </p:txBody>
      </p:sp>
      <p:pic>
        <p:nvPicPr>
          <p:cNvPr id="17" name="object 3">
            <a:extLst>
              <a:ext uri="{FF2B5EF4-FFF2-40B4-BE49-F238E27FC236}">
                <a16:creationId xmlns:a16="http://schemas.microsoft.com/office/drawing/2014/main" id="{A96C1327-E72F-4180-E3C2-B61AA8F69754}"/>
              </a:ext>
            </a:extLst>
          </p:cNvPr>
          <p:cNvPicPr/>
          <p:nvPr/>
        </p:nvPicPr>
        <p:blipFill>
          <a:blip r:embed="rId5" cstate="print"/>
          <a:stretch>
            <a:fillRect/>
          </a:stretch>
        </p:blipFill>
        <p:spPr>
          <a:xfrm>
            <a:off x="290750" y="204311"/>
            <a:ext cx="1163002" cy="424338"/>
          </a:xfrm>
          <a:prstGeom prst="rect">
            <a:avLst/>
          </a:prstGeom>
        </p:spPr>
      </p:pic>
      <p:sp>
        <p:nvSpPr>
          <p:cNvPr id="9" name="TextBox 8">
            <a:extLst>
              <a:ext uri="{FF2B5EF4-FFF2-40B4-BE49-F238E27FC236}">
                <a16:creationId xmlns:a16="http://schemas.microsoft.com/office/drawing/2014/main" id="{BFBF2007-27FF-CA6A-0B05-7F4BF62E30AC}"/>
              </a:ext>
            </a:extLst>
          </p:cNvPr>
          <p:cNvSpPr txBox="1"/>
          <p:nvPr/>
        </p:nvSpPr>
        <p:spPr>
          <a:xfrm>
            <a:off x="685800" y="1828800"/>
            <a:ext cx="8032580" cy="4305730"/>
          </a:xfrm>
          <a:prstGeom prst="rect">
            <a:avLst/>
          </a:prstGeom>
          <a:noFill/>
        </p:spPr>
        <p:txBody>
          <a:bodyPr wrap="square">
            <a:spAutoFit/>
          </a:bodyPr>
          <a:lstStyle/>
          <a:p>
            <a:pPr>
              <a:lnSpc>
                <a:spcPct val="200000"/>
              </a:lnSpc>
              <a:buNone/>
            </a:pPr>
            <a:r>
              <a:rPr lang="en-IN" sz="2000" b="1" dirty="0"/>
              <a:t>2.2 Non-Functional Requirements</a:t>
            </a:r>
          </a:p>
          <a:p>
            <a:pPr>
              <a:lnSpc>
                <a:spcPct val="200000"/>
              </a:lnSpc>
              <a:buFont typeface="Arial" panose="020B0604020202020204" pitchFamily="34" charset="0"/>
              <a:buChar char="•"/>
            </a:pPr>
            <a:r>
              <a:rPr lang="en-IN" sz="2000" b="1" dirty="0"/>
              <a:t>Performance</a:t>
            </a:r>
            <a:r>
              <a:rPr lang="en-IN" sz="2000" dirty="0"/>
              <a:t>: Fast loading &amp; database operations </a:t>
            </a:r>
          </a:p>
          <a:p>
            <a:pPr>
              <a:lnSpc>
                <a:spcPct val="200000"/>
              </a:lnSpc>
              <a:buFont typeface="Arial" panose="020B0604020202020204" pitchFamily="34" charset="0"/>
              <a:buChar char="•"/>
            </a:pPr>
            <a:r>
              <a:rPr lang="en-IN" sz="2000" b="1" dirty="0"/>
              <a:t>Security</a:t>
            </a:r>
            <a:r>
              <a:rPr lang="en-IN" sz="2000" dirty="0"/>
              <a:t>: JWT authentication &amp; access control </a:t>
            </a:r>
          </a:p>
          <a:p>
            <a:pPr>
              <a:lnSpc>
                <a:spcPct val="200000"/>
              </a:lnSpc>
              <a:buFont typeface="Arial" panose="020B0604020202020204" pitchFamily="34" charset="0"/>
              <a:buChar char="•"/>
            </a:pPr>
            <a:r>
              <a:rPr lang="en-IN" sz="2000" b="1" dirty="0"/>
              <a:t>Reliability</a:t>
            </a:r>
            <a:r>
              <a:rPr lang="en-IN" sz="2000" dirty="0"/>
              <a:t>: Consistent data handling and backup </a:t>
            </a:r>
          </a:p>
          <a:p>
            <a:pPr>
              <a:lnSpc>
                <a:spcPct val="200000"/>
              </a:lnSpc>
              <a:buFont typeface="Arial" panose="020B0604020202020204" pitchFamily="34" charset="0"/>
              <a:buChar char="•"/>
            </a:pPr>
            <a:r>
              <a:rPr lang="en-IN" sz="2000" b="1" dirty="0"/>
              <a:t>Usability</a:t>
            </a:r>
            <a:r>
              <a:rPr lang="en-IN" sz="2000" dirty="0"/>
              <a:t>: Simple UI, responsive design </a:t>
            </a:r>
          </a:p>
          <a:p>
            <a:pPr>
              <a:lnSpc>
                <a:spcPct val="200000"/>
              </a:lnSpc>
              <a:buFont typeface="Arial" panose="020B0604020202020204" pitchFamily="34" charset="0"/>
              <a:buChar char="•"/>
            </a:pPr>
            <a:r>
              <a:rPr lang="en-IN" sz="2000" b="1" dirty="0"/>
              <a:t>Scalability</a:t>
            </a:r>
            <a:r>
              <a:rPr lang="en-IN" sz="2000" dirty="0"/>
              <a:t>: Supports large number of students &amp; departments </a:t>
            </a:r>
          </a:p>
          <a:p>
            <a:pPr>
              <a:lnSpc>
                <a:spcPct val="200000"/>
              </a:lnSpc>
              <a:buFont typeface="Arial" panose="020B0604020202020204" pitchFamily="34" charset="0"/>
              <a:buChar char="•"/>
            </a:pPr>
            <a:r>
              <a:rPr lang="en-IN" sz="2000" b="1" dirty="0"/>
              <a:t>Availability</a:t>
            </a:r>
            <a:r>
              <a:rPr lang="en-IN" sz="2000" dirty="0"/>
              <a:t>: 24/7 system uptime</a:t>
            </a:r>
          </a:p>
        </p:txBody>
      </p:sp>
    </p:spTree>
    <p:extLst>
      <p:ext uri="{BB962C8B-B14F-4D97-AF65-F5344CB8AC3E}">
        <p14:creationId xmlns:p14="http://schemas.microsoft.com/office/powerpoint/2010/main" val="31424072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810000" y="342558"/>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SYSTEM ANALYSIS</a:t>
            </a: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9" name="TextBox 8">
            <a:extLst>
              <a:ext uri="{FF2B5EF4-FFF2-40B4-BE49-F238E27FC236}">
                <a16:creationId xmlns:a16="http://schemas.microsoft.com/office/drawing/2014/main" id="{7EEFEBED-3B77-6C32-F858-EA419AC18007}"/>
              </a:ext>
            </a:extLst>
          </p:cNvPr>
          <p:cNvSpPr txBox="1"/>
          <p:nvPr/>
        </p:nvSpPr>
        <p:spPr>
          <a:xfrm>
            <a:off x="903846" y="1322610"/>
            <a:ext cx="7696200" cy="4651979"/>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IN" sz="2000" b="1" dirty="0"/>
              <a:t>2.3 Hardware &amp; Software Requirements</a:t>
            </a:r>
          </a:p>
          <a:p>
            <a:pPr marL="342900" indent="-342900">
              <a:lnSpc>
                <a:spcPct val="150000"/>
              </a:lnSpc>
              <a:buFont typeface="Arial" panose="020B0604020202020204" pitchFamily="34" charset="0"/>
              <a:buChar char="•"/>
            </a:pPr>
            <a:r>
              <a:rPr lang="en-IN" sz="2000" b="1" dirty="0"/>
              <a:t>Hardware</a:t>
            </a:r>
            <a:r>
              <a:rPr lang="en-IN" sz="2000" dirty="0"/>
              <a:t>:</a:t>
            </a:r>
          </a:p>
          <a:p>
            <a:pPr marL="342900" indent="-342900">
              <a:lnSpc>
                <a:spcPct val="150000"/>
              </a:lnSpc>
              <a:buFont typeface="Arial" panose="020B0604020202020204" pitchFamily="34" charset="0"/>
              <a:buChar char="•"/>
            </a:pPr>
            <a:r>
              <a:rPr lang="en-IN" sz="2000" b="1" dirty="0"/>
              <a:t> </a:t>
            </a:r>
            <a:r>
              <a:rPr lang="en-IN" sz="2000" dirty="0"/>
              <a:t>Intel i5 processor</a:t>
            </a:r>
          </a:p>
          <a:p>
            <a:pPr marL="342900" indent="-342900">
              <a:lnSpc>
                <a:spcPct val="150000"/>
              </a:lnSpc>
              <a:buFont typeface="Arial" panose="020B0604020202020204" pitchFamily="34" charset="0"/>
              <a:buChar char="•"/>
            </a:pPr>
            <a:r>
              <a:rPr lang="en-IN" sz="2000" dirty="0"/>
              <a:t> 8GB RAM</a:t>
            </a:r>
          </a:p>
          <a:p>
            <a:pPr marL="342900" indent="-342900">
              <a:lnSpc>
                <a:spcPct val="150000"/>
              </a:lnSpc>
              <a:buFont typeface="Arial" panose="020B0604020202020204" pitchFamily="34" charset="0"/>
              <a:buChar char="•"/>
            </a:pPr>
            <a:r>
              <a:rPr lang="en-IN" sz="2000" dirty="0"/>
              <a:t>50GB Storage </a:t>
            </a:r>
          </a:p>
          <a:p>
            <a:pPr marL="342900" indent="-342900">
              <a:lnSpc>
                <a:spcPct val="150000"/>
              </a:lnSpc>
              <a:buFont typeface="Arial" panose="020B0604020202020204" pitchFamily="34" charset="0"/>
              <a:buChar char="•"/>
            </a:pPr>
            <a:r>
              <a:rPr lang="en-IN" sz="2000" b="1" dirty="0"/>
              <a:t>Software</a:t>
            </a:r>
            <a:r>
              <a:rPr lang="en-IN" sz="2000" dirty="0"/>
              <a:t>:</a:t>
            </a:r>
          </a:p>
          <a:p>
            <a:pPr marL="342900" indent="-342900">
              <a:lnSpc>
                <a:spcPct val="150000"/>
              </a:lnSpc>
              <a:buFont typeface="Arial" panose="020B0604020202020204" pitchFamily="34" charset="0"/>
              <a:buChar char="•"/>
            </a:pPr>
            <a:r>
              <a:rPr lang="en-IN" sz="2000" dirty="0"/>
              <a:t>OS: Windows/Linux/macOS React, Node.js, Express.js</a:t>
            </a:r>
          </a:p>
          <a:p>
            <a:pPr marL="342900" indent="-342900">
              <a:lnSpc>
                <a:spcPct val="150000"/>
              </a:lnSpc>
              <a:buFont typeface="Arial" panose="020B0604020202020204" pitchFamily="34" charset="0"/>
              <a:buChar char="•"/>
            </a:pPr>
            <a:r>
              <a:rPr lang="en-IN" sz="2000" dirty="0"/>
              <a:t> MongoDB</a:t>
            </a:r>
          </a:p>
          <a:p>
            <a:pPr marL="342900" indent="-342900">
              <a:lnSpc>
                <a:spcPct val="150000"/>
              </a:lnSpc>
              <a:buFont typeface="Arial" panose="020B0604020202020204" pitchFamily="34" charset="0"/>
              <a:buChar char="•"/>
            </a:pPr>
            <a:r>
              <a:rPr lang="en-IN" sz="2000" dirty="0"/>
              <a:t> VS Code</a:t>
            </a:r>
          </a:p>
          <a:p>
            <a:pPr marL="342900" indent="-342900">
              <a:lnSpc>
                <a:spcPct val="150000"/>
              </a:lnSpc>
              <a:buFont typeface="Arial" panose="020B0604020202020204" pitchFamily="34" charset="0"/>
              <a:buChar char="•"/>
            </a:pPr>
            <a:r>
              <a:rPr lang="en-IN" sz="2000" dirty="0"/>
              <a:t> Web Browser</a:t>
            </a:r>
          </a:p>
        </p:txBody>
      </p:sp>
    </p:spTree>
    <p:extLst>
      <p:ext uri="{BB962C8B-B14F-4D97-AF65-F5344CB8AC3E}">
        <p14:creationId xmlns:p14="http://schemas.microsoft.com/office/powerpoint/2010/main" val="22720524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3C03A-992A-CEAD-5FB8-686527824E66}"/>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EA7C8F04-95CA-C1E0-BFA2-4BFACD89E6B8}"/>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B989C992-155F-6A68-0B08-3B39FFBAA62F}"/>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D031E1F9-FB82-922E-C796-97077F94E70F}"/>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8EAA2CC3-9696-811E-B5BE-5C1848177706}"/>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F65D09F8-C17C-F03E-88B8-4942A39F2099}"/>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65154CDE-FB1D-92DB-77E9-9CDAB77B8835}"/>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5E89CD20-90CB-480C-A4EB-EC7405BED441}"/>
              </a:ext>
            </a:extLst>
          </p:cNvPr>
          <p:cNvPicPr/>
          <p:nvPr/>
        </p:nvPicPr>
        <p:blipFill>
          <a:blip r:embed="rId6" cstate="print"/>
          <a:stretch>
            <a:fillRect/>
          </a:stretch>
        </p:blipFill>
        <p:spPr>
          <a:xfrm>
            <a:off x="290750" y="204311"/>
            <a:ext cx="1163002" cy="424338"/>
          </a:xfrm>
          <a:prstGeom prst="rect">
            <a:avLst/>
          </a:prstGeom>
        </p:spPr>
      </p:pic>
      <p:sp>
        <p:nvSpPr>
          <p:cNvPr id="4" name="TextBox 3">
            <a:extLst>
              <a:ext uri="{FF2B5EF4-FFF2-40B4-BE49-F238E27FC236}">
                <a16:creationId xmlns:a16="http://schemas.microsoft.com/office/drawing/2014/main" id="{93CCF28E-BD45-886E-D977-A186853D3874}"/>
              </a:ext>
            </a:extLst>
          </p:cNvPr>
          <p:cNvSpPr txBox="1"/>
          <p:nvPr/>
        </p:nvSpPr>
        <p:spPr>
          <a:xfrm>
            <a:off x="1143000" y="1143000"/>
            <a:ext cx="7848600" cy="646331"/>
          </a:xfrm>
          <a:prstGeom prst="rect">
            <a:avLst/>
          </a:prstGeom>
          <a:noFill/>
        </p:spPr>
        <p:txBody>
          <a:bodyPr wrap="square">
            <a:spAutoFit/>
          </a:bodyPr>
          <a:lstStyle/>
          <a:p>
            <a:pPr>
              <a:buNone/>
            </a:pPr>
            <a:r>
              <a:rPr lang="en-US" b="1" dirty="0"/>
              <a:t>3.1 Database Tables: </a:t>
            </a:r>
          </a:p>
          <a:p>
            <a:pPr>
              <a:buNone/>
            </a:pPr>
            <a:r>
              <a:rPr lang="en-US" b="1" dirty="0"/>
              <a:t>	</a:t>
            </a:r>
            <a:r>
              <a:rPr lang="en-US" dirty="0"/>
              <a:t>Students Table, Faculty Table, Subjects Table, Attendance Table</a:t>
            </a:r>
          </a:p>
        </p:txBody>
      </p:sp>
      <p:graphicFrame>
        <p:nvGraphicFramePr>
          <p:cNvPr id="19" name="Table 18">
            <a:extLst>
              <a:ext uri="{FF2B5EF4-FFF2-40B4-BE49-F238E27FC236}">
                <a16:creationId xmlns:a16="http://schemas.microsoft.com/office/drawing/2014/main" id="{6154F761-6D3B-BC58-87A4-C645B4AF24ED}"/>
              </a:ext>
            </a:extLst>
          </p:cNvPr>
          <p:cNvGraphicFramePr>
            <a:graphicFrameLocks noGrp="1"/>
          </p:cNvGraphicFramePr>
          <p:nvPr>
            <p:extLst>
              <p:ext uri="{D42A27DB-BD31-4B8C-83A1-F6EECF244321}">
                <p14:modId xmlns:p14="http://schemas.microsoft.com/office/powerpoint/2010/main" val="1820034252"/>
              </p:ext>
            </p:extLst>
          </p:nvPr>
        </p:nvGraphicFramePr>
        <p:xfrm>
          <a:off x="1371600" y="2235278"/>
          <a:ext cx="7239000" cy="3881878"/>
        </p:xfrm>
        <a:graphic>
          <a:graphicData uri="http://schemas.openxmlformats.org/drawingml/2006/table">
            <a:tbl>
              <a:tblPr firstRow="1" bandRow="1">
                <a:tableStyleId>{5C22544A-7EE6-4342-B048-85BDC9FD1C3A}</a:tableStyleId>
              </a:tblPr>
              <a:tblGrid>
                <a:gridCol w="2413000">
                  <a:extLst>
                    <a:ext uri="{9D8B030D-6E8A-4147-A177-3AD203B41FA5}">
                      <a16:colId xmlns:a16="http://schemas.microsoft.com/office/drawing/2014/main" val="3013658763"/>
                    </a:ext>
                  </a:extLst>
                </a:gridCol>
                <a:gridCol w="2413000">
                  <a:extLst>
                    <a:ext uri="{9D8B030D-6E8A-4147-A177-3AD203B41FA5}">
                      <a16:colId xmlns:a16="http://schemas.microsoft.com/office/drawing/2014/main" val="988725143"/>
                    </a:ext>
                  </a:extLst>
                </a:gridCol>
                <a:gridCol w="2413000">
                  <a:extLst>
                    <a:ext uri="{9D8B030D-6E8A-4147-A177-3AD203B41FA5}">
                      <a16:colId xmlns:a16="http://schemas.microsoft.com/office/drawing/2014/main" val="2643789159"/>
                    </a:ext>
                  </a:extLst>
                </a:gridCol>
              </a:tblGrid>
              <a:tr h="554554">
                <a:tc>
                  <a:txBody>
                    <a:bodyPr/>
                    <a:lstStyle/>
                    <a:p>
                      <a:pPr>
                        <a:buNone/>
                      </a:pPr>
                      <a:r>
                        <a:rPr lang="en-IN" b="1" dirty="0"/>
                        <a:t>Field Name</a:t>
                      </a:r>
                      <a:endParaRPr lang="en-IN" dirty="0"/>
                    </a:p>
                  </a:txBody>
                  <a:tcPr anchor="ctr"/>
                </a:tc>
                <a:tc>
                  <a:txBody>
                    <a:bodyPr/>
                    <a:lstStyle/>
                    <a:p>
                      <a:pPr>
                        <a:buNone/>
                      </a:pPr>
                      <a:r>
                        <a:rPr lang="en-IN" b="1"/>
                        <a:t>Data Type</a:t>
                      </a:r>
                      <a:endParaRPr lang="en-IN"/>
                    </a:p>
                  </a:txBody>
                  <a:tcPr anchor="ctr"/>
                </a:tc>
                <a:tc>
                  <a:txBody>
                    <a:bodyPr/>
                    <a:lstStyle/>
                    <a:p>
                      <a:pPr>
                        <a:buNone/>
                      </a:pPr>
                      <a:r>
                        <a:rPr lang="en-IN" b="1"/>
                        <a:t>Description</a:t>
                      </a:r>
                      <a:endParaRPr lang="en-IN"/>
                    </a:p>
                  </a:txBody>
                  <a:tcPr anchor="ctr"/>
                </a:tc>
                <a:extLst>
                  <a:ext uri="{0D108BD9-81ED-4DB2-BD59-A6C34878D82A}">
                    <a16:rowId xmlns:a16="http://schemas.microsoft.com/office/drawing/2014/main" val="4248644296"/>
                  </a:ext>
                </a:extLst>
              </a:tr>
              <a:tr h="554554">
                <a:tc>
                  <a:txBody>
                    <a:bodyPr/>
                    <a:lstStyle/>
                    <a:p>
                      <a:pPr>
                        <a:buNone/>
                      </a:pPr>
                      <a:r>
                        <a:rPr lang="en-IN"/>
                        <a:t>student_id</a:t>
                      </a:r>
                    </a:p>
                  </a:txBody>
                  <a:tcPr anchor="ctr"/>
                </a:tc>
                <a:tc>
                  <a:txBody>
                    <a:bodyPr/>
                    <a:lstStyle/>
                    <a:p>
                      <a:pPr>
                        <a:buNone/>
                      </a:pPr>
                      <a:r>
                        <a:rPr lang="en-IN"/>
                        <a:t>ObjectId</a:t>
                      </a:r>
                    </a:p>
                  </a:txBody>
                  <a:tcPr anchor="ctr"/>
                </a:tc>
                <a:tc>
                  <a:txBody>
                    <a:bodyPr/>
                    <a:lstStyle/>
                    <a:p>
                      <a:pPr>
                        <a:buNone/>
                      </a:pPr>
                      <a:r>
                        <a:rPr lang="en-IN"/>
                        <a:t>Unique ID for student</a:t>
                      </a:r>
                    </a:p>
                  </a:txBody>
                  <a:tcPr anchor="ctr"/>
                </a:tc>
                <a:extLst>
                  <a:ext uri="{0D108BD9-81ED-4DB2-BD59-A6C34878D82A}">
                    <a16:rowId xmlns:a16="http://schemas.microsoft.com/office/drawing/2014/main" val="937594124"/>
                  </a:ext>
                </a:extLst>
              </a:tr>
              <a:tr h="554554">
                <a:tc>
                  <a:txBody>
                    <a:bodyPr/>
                    <a:lstStyle/>
                    <a:p>
                      <a:pPr>
                        <a:buNone/>
                      </a:pPr>
                      <a:r>
                        <a:rPr lang="en-IN"/>
                        <a:t>roll_number</a:t>
                      </a:r>
                    </a:p>
                  </a:txBody>
                  <a:tcPr anchor="ctr"/>
                </a:tc>
                <a:tc>
                  <a:txBody>
                    <a:bodyPr/>
                    <a:lstStyle/>
                    <a:p>
                      <a:pPr>
                        <a:buNone/>
                      </a:pPr>
                      <a:r>
                        <a:rPr lang="en-IN"/>
                        <a:t>String</a:t>
                      </a:r>
                    </a:p>
                  </a:txBody>
                  <a:tcPr anchor="ctr"/>
                </a:tc>
                <a:tc>
                  <a:txBody>
                    <a:bodyPr/>
                    <a:lstStyle/>
                    <a:p>
                      <a:pPr>
                        <a:buNone/>
                      </a:pPr>
                      <a:r>
                        <a:rPr lang="en-IN"/>
                        <a:t>Student roll number</a:t>
                      </a:r>
                    </a:p>
                  </a:txBody>
                  <a:tcPr anchor="ctr"/>
                </a:tc>
                <a:extLst>
                  <a:ext uri="{0D108BD9-81ED-4DB2-BD59-A6C34878D82A}">
                    <a16:rowId xmlns:a16="http://schemas.microsoft.com/office/drawing/2014/main" val="1887490670"/>
                  </a:ext>
                </a:extLst>
              </a:tr>
              <a:tr h="554554">
                <a:tc>
                  <a:txBody>
                    <a:bodyPr/>
                    <a:lstStyle/>
                    <a:p>
                      <a:pPr>
                        <a:buNone/>
                      </a:pPr>
                      <a:r>
                        <a:rPr lang="en-IN"/>
                        <a:t>name</a:t>
                      </a:r>
                    </a:p>
                  </a:txBody>
                  <a:tcPr anchor="ctr"/>
                </a:tc>
                <a:tc>
                  <a:txBody>
                    <a:bodyPr/>
                    <a:lstStyle/>
                    <a:p>
                      <a:pPr>
                        <a:buNone/>
                      </a:pPr>
                      <a:r>
                        <a:rPr lang="en-IN"/>
                        <a:t>String</a:t>
                      </a:r>
                    </a:p>
                  </a:txBody>
                  <a:tcPr anchor="ctr"/>
                </a:tc>
                <a:tc>
                  <a:txBody>
                    <a:bodyPr/>
                    <a:lstStyle/>
                    <a:p>
                      <a:pPr>
                        <a:buNone/>
                      </a:pPr>
                      <a:r>
                        <a:rPr lang="en-IN"/>
                        <a:t>Student full name</a:t>
                      </a:r>
                    </a:p>
                  </a:txBody>
                  <a:tcPr anchor="ctr"/>
                </a:tc>
                <a:extLst>
                  <a:ext uri="{0D108BD9-81ED-4DB2-BD59-A6C34878D82A}">
                    <a16:rowId xmlns:a16="http://schemas.microsoft.com/office/drawing/2014/main" val="1400779424"/>
                  </a:ext>
                </a:extLst>
              </a:tr>
              <a:tr h="554554">
                <a:tc>
                  <a:txBody>
                    <a:bodyPr/>
                    <a:lstStyle/>
                    <a:p>
                      <a:pPr>
                        <a:buNone/>
                      </a:pPr>
                      <a:r>
                        <a:rPr lang="en-IN"/>
                        <a:t>email</a:t>
                      </a:r>
                    </a:p>
                  </a:txBody>
                  <a:tcPr anchor="ctr"/>
                </a:tc>
                <a:tc>
                  <a:txBody>
                    <a:bodyPr/>
                    <a:lstStyle/>
                    <a:p>
                      <a:pPr>
                        <a:buNone/>
                      </a:pPr>
                      <a:r>
                        <a:rPr lang="en-IN"/>
                        <a:t>String</a:t>
                      </a:r>
                    </a:p>
                  </a:txBody>
                  <a:tcPr anchor="ctr"/>
                </a:tc>
                <a:tc>
                  <a:txBody>
                    <a:bodyPr/>
                    <a:lstStyle/>
                    <a:p>
                      <a:pPr>
                        <a:buNone/>
                      </a:pPr>
                      <a:r>
                        <a:rPr lang="en-IN"/>
                        <a:t>Student email (unique)</a:t>
                      </a:r>
                    </a:p>
                  </a:txBody>
                  <a:tcPr anchor="ctr"/>
                </a:tc>
                <a:extLst>
                  <a:ext uri="{0D108BD9-81ED-4DB2-BD59-A6C34878D82A}">
                    <a16:rowId xmlns:a16="http://schemas.microsoft.com/office/drawing/2014/main" val="2777597803"/>
                  </a:ext>
                </a:extLst>
              </a:tr>
              <a:tr h="554554">
                <a:tc>
                  <a:txBody>
                    <a:bodyPr/>
                    <a:lstStyle/>
                    <a:p>
                      <a:pPr>
                        <a:buNone/>
                      </a:pPr>
                      <a:r>
                        <a:rPr lang="en-IN"/>
                        <a:t>department_id</a:t>
                      </a:r>
                    </a:p>
                  </a:txBody>
                  <a:tcPr anchor="ctr"/>
                </a:tc>
                <a:tc>
                  <a:txBody>
                    <a:bodyPr/>
                    <a:lstStyle/>
                    <a:p>
                      <a:pPr>
                        <a:buNone/>
                      </a:pPr>
                      <a:r>
                        <a:rPr lang="en-IN"/>
                        <a:t>ObjectId</a:t>
                      </a:r>
                    </a:p>
                  </a:txBody>
                  <a:tcPr anchor="ctr"/>
                </a:tc>
                <a:tc>
                  <a:txBody>
                    <a:bodyPr/>
                    <a:lstStyle/>
                    <a:p>
                      <a:pPr>
                        <a:buNone/>
                      </a:pPr>
                      <a:r>
                        <a:rPr lang="en-IN"/>
                        <a:t>Linked department ID</a:t>
                      </a:r>
                    </a:p>
                  </a:txBody>
                  <a:tcPr anchor="ctr"/>
                </a:tc>
                <a:extLst>
                  <a:ext uri="{0D108BD9-81ED-4DB2-BD59-A6C34878D82A}">
                    <a16:rowId xmlns:a16="http://schemas.microsoft.com/office/drawing/2014/main" val="3635554292"/>
                  </a:ext>
                </a:extLst>
              </a:tr>
              <a:tr h="554554">
                <a:tc>
                  <a:txBody>
                    <a:bodyPr/>
                    <a:lstStyle/>
                    <a:p>
                      <a:pPr>
                        <a:buNone/>
                      </a:pPr>
                      <a:r>
                        <a:rPr lang="en-IN"/>
                        <a:t>password_hash</a:t>
                      </a:r>
                    </a:p>
                  </a:txBody>
                  <a:tcPr anchor="ctr"/>
                </a:tc>
                <a:tc>
                  <a:txBody>
                    <a:bodyPr/>
                    <a:lstStyle/>
                    <a:p>
                      <a:pPr>
                        <a:buNone/>
                      </a:pPr>
                      <a:r>
                        <a:rPr lang="en-IN"/>
                        <a:t>String</a:t>
                      </a:r>
                    </a:p>
                  </a:txBody>
                  <a:tcPr anchor="ctr"/>
                </a:tc>
                <a:tc>
                  <a:txBody>
                    <a:bodyPr/>
                    <a:lstStyle/>
                    <a:p>
                      <a:pPr>
                        <a:buNone/>
                      </a:pPr>
                      <a:r>
                        <a:rPr lang="en-IN" dirty="0"/>
                        <a:t>Encrypted password</a:t>
                      </a:r>
                    </a:p>
                  </a:txBody>
                  <a:tcPr anchor="ctr"/>
                </a:tc>
                <a:extLst>
                  <a:ext uri="{0D108BD9-81ED-4DB2-BD59-A6C34878D82A}">
                    <a16:rowId xmlns:a16="http://schemas.microsoft.com/office/drawing/2014/main" val="3583063755"/>
                  </a:ext>
                </a:extLst>
              </a:tr>
            </a:tbl>
          </a:graphicData>
        </a:graphic>
      </p:graphicFrame>
    </p:spTree>
    <p:extLst>
      <p:ext uri="{BB962C8B-B14F-4D97-AF65-F5344CB8AC3E}">
        <p14:creationId xmlns:p14="http://schemas.microsoft.com/office/powerpoint/2010/main" val="8918289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440B4-B462-F22D-0950-B6710CF9EA51}"/>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D4A9BBA5-9A38-1657-0653-14EC0D3B9CE4}"/>
              </a:ext>
            </a:extLst>
          </p:cNvPr>
          <p:cNvGrpSpPr/>
          <p:nvPr/>
        </p:nvGrpSpPr>
        <p:grpSpPr>
          <a:xfrm>
            <a:off x="2578667" y="70106"/>
            <a:ext cx="5103904" cy="1198311"/>
            <a:chOff x="2648188" y="47148"/>
            <a:chExt cx="5103904" cy="1198311"/>
          </a:xfrm>
        </p:grpSpPr>
        <p:pic>
          <p:nvPicPr>
            <p:cNvPr id="6" name="object 4">
              <a:extLst>
                <a:ext uri="{FF2B5EF4-FFF2-40B4-BE49-F238E27FC236}">
                  <a16:creationId xmlns:a16="http://schemas.microsoft.com/office/drawing/2014/main" id="{6656BA03-D3A4-CDEA-202C-38C81F635B72}"/>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4C109C39-054A-E81F-70B9-386F94A44C3C}"/>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1533A0EA-DA31-1EB6-ADF3-083AD01A4E88}"/>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0E8E014C-4F7F-C10B-D153-7578A6AE564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E5ECF7B6-4D35-5116-1FBA-A710C58C5A84}"/>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98FBF8DD-4922-6047-5E1A-EAFBB22DFB9B}"/>
              </a:ext>
            </a:extLst>
          </p:cNvPr>
          <p:cNvPicPr/>
          <p:nvPr/>
        </p:nvPicPr>
        <p:blipFill>
          <a:blip r:embed="rId6" cstate="print"/>
          <a:stretch>
            <a:fillRect/>
          </a:stretch>
        </p:blipFill>
        <p:spPr>
          <a:xfrm>
            <a:off x="290750" y="204311"/>
            <a:ext cx="1163002" cy="424338"/>
          </a:xfrm>
          <a:prstGeom prst="rect">
            <a:avLst/>
          </a:prstGeom>
        </p:spPr>
      </p:pic>
      <p:sp>
        <p:nvSpPr>
          <p:cNvPr id="15" name="Rectangle 2">
            <a:extLst>
              <a:ext uri="{FF2B5EF4-FFF2-40B4-BE49-F238E27FC236}">
                <a16:creationId xmlns:a16="http://schemas.microsoft.com/office/drawing/2014/main" id="{ABCA094B-1BBD-E553-D071-710EE8FF1A7C}"/>
              </a:ext>
            </a:extLst>
          </p:cNvPr>
          <p:cNvSpPr>
            <a:spLocks noChangeArrowheads="1"/>
          </p:cNvSpPr>
          <p:nvPr/>
        </p:nvSpPr>
        <p:spPr bwMode="auto">
          <a:xfrm>
            <a:off x="663144" y="946182"/>
            <a:ext cx="906780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IN" b="1" dirty="0"/>
              <a:t>3.2 Keys &amp; Constraints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ptos Narrow" panose="020B0004020202020204" pitchFamily="34" charset="0"/>
              </a:rPr>
              <a:t>	</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The system uses primary keys such as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student_id</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faculty_id</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subject_id</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and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attendance_id</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to uniquely identify each record. Foreign keys link students, faculty, and subjects to maintain proper relationships, while unique fields like </a:t>
            </a:r>
            <a:r>
              <a:rPr kumimoji="0" lang="en-US" altLang="en-US"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roll_number</a:t>
            </a:r>
            <a:r>
              <a:rPr kumimoji="0" lang="en-US"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and email prevent duplication</a:t>
            </a:r>
            <a:r>
              <a:rPr kumimoji="0" lang="en-US" altLang="en-US" sz="1600" b="0" i="0" u="none" strike="noStrike" cap="none" normalizeH="0" baseline="0" dirty="0">
                <a:ln>
                  <a:noFill/>
                </a:ln>
                <a:solidFill>
                  <a:schemeClr val="tx1"/>
                </a:solidFill>
                <a:effectLst/>
                <a:latin typeface="Aptos Narrow" panose="020B0004020202020204" pitchFamily="34" charset="0"/>
              </a:rPr>
              <a:t>. </a:t>
            </a:r>
            <a:endParaRPr kumimoji="0" lang="en-US" altLang="en-US" sz="1500" b="0" i="0" u="none" strike="noStrike" cap="none" normalizeH="0" baseline="0" dirty="0">
              <a:ln>
                <a:noFill/>
              </a:ln>
              <a:solidFill>
                <a:schemeClr val="tx1"/>
              </a:solidFill>
              <a:effectLst/>
              <a:latin typeface="Aptos Narrow" panose="020B0004020202020204" pitchFamily="34" charset="0"/>
            </a:endParaRPr>
          </a:p>
        </p:txBody>
      </p:sp>
      <p:graphicFrame>
        <p:nvGraphicFramePr>
          <p:cNvPr id="16" name="Table 15">
            <a:extLst>
              <a:ext uri="{FF2B5EF4-FFF2-40B4-BE49-F238E27FC236}">
                <a16:creationId xmlns:a16="http://schemas.microsoft.com/office/drawing/2014/main" id="{6B2622E1-A70A-8F34-D07E-277FDC3600DA}"/>
              </a:ext>
            </a:extLst>
          </p:cNvPr>
          <p:cNvGraphicFramePr>
            <a:graphicFrameLocks noGrp="1"/>
          </p:cNvGraphicFramePr>
          <p:nvPr>
            <p:extLst>
              <p:ext uri="{D42A27DB-BD31-4B8C-83A1-F6EECF244321}">
                <p14:modId xmlns:p14="http://schemas.microsoft.com/office/powerpoint/2010/main" val="4043138816"/>
              </p:ext>
            </p:extLst>
          </p:nvPr>
        </p:nvGraphicFramePr>
        <p:xfrm>
          <a:off x="1371600" y="2667000"/>
          <a:ext cx="6781800" cy="4518879"/>
        </p:xfrm>
        <a:graphic>
          <a:graphicData uri="http://schemas.openxmlformats.org/drawingml/2006/table">
            <a:tbl>
              <a:tblPr firstRow="1" bandRow="1">
                <a:tableStyleId>{5C22544A-7EE6-4342-B048-85BDC9FD1C3A}</a:tableStyleId>
              </a:tblPr>
              <a:tblGrid>
                <a:gridCol w="2260600">
                  <a:extLst>
                    <a:ext uri="{9D8B030D-6E8A-4147-A177-3AD203B41FA5}">
                      <a16:colId xmlns:a16="http://schemas.microsoft.com/office/drawing/2014/main" val="692223873"/>
                    </a:ext>
                  </a:extLst>
                </a:gridCol>
                <a:gridCol w="2260600">
                  <a:extLst>
                    <a:ext uri="{9D8B030D-6E8A-4147-A177-3AD203B41FA5}">
                      <a16:colId xmlns:a16="http://schemas.microsoft.com/office/drawing/2014/main" val="650822638"/>
                    </a:ext>
                  </a:extLst>
                </a:gridCol>
                <a:gridCol w="2260600">
                  <a:extLst>
                    <a:ext uri="{9D8B030D-6E8A-4147-A177-3AD203B41FA5}">
                      <a16:colId xmlns:a16="http://schemas.microsoft.com/office/drawing/2014/main" val="2996935828"/>
                    </a:ext>
                  </a:extLst>
                </a:gridCol>
              </a:tblGrid>
              <a:tr h="454690">
                <a:tc>
                  <a:txBody>
                    <a:bodyPr/>
                    <a:lstStyle/>
                    <a:p>
                      <a:pPr>
                        <a:buNone/>
                      </a:pPr>
                      <a:r>
                        <a:rPr lang="en-IN" b="1" dirty="0"/>
                        <a:t>Field Name</a:t>
                      </a:r>
                      <a:endParaRPr lang="en-IN" dirty="0"/>
                    </a:p>
                  </a:txBody>
                  <a:tcPr anchor="ctr"/>
                </a:tc>
                <a:tc>
                  <a:txBody>
                    <a:bodyPr/>
                    <a:lstStyle/>
                    <a:p>
                      <a:pPr>
                        <a:buNone/>
                      </a:pPr>
                      <a:r>
                        <a:rPr lang="en-IN" b="1"/>
                        <a:t>Data Type</a:t>
                      </a:r>
                      <a:endParaRPr lang="en-IN"/>
                    </a:p>
                  </a:txBody>
                  <a:tcPr anchor="ctr"/>
                </a:tc>
                <a:tc>
                  <a:txBody>
                    <a:bodyPr/>
                    <a:lstStyle/>
                    <a:p>
                      <a:pPr>
                        <a:buNone/>
                      </a:pPr>
                      <a:r>
                        <a:rPr lang="en-IN" b="1" dirty="0"/>
                        <a:t>Description</a:t>
                      </a:r>
                      <a:endParaRPr lang="en-IN" dirty="0"/>
                    </a:p>
                  </a:txBody>
                  <a:tcPr anchor="ctr"/>
                </a:tc>
                <a:extLst>
                  <a:ext uri="{0D108BD9-81ED-4DB2-BD59-A6C34878D82A}">
                    <a16:rowId xmlns:a16="http://schemas.microsoft.com/office/drawing/2014/main" val="411489067"/>
                  </a:ext>
                </a:extLst>
              </a:tr>
              <a:tr h="784809">
                <a:tc>
                  <a:txBody>
                    <a:bodyPr/>
                    <a:lstStyle/>
                    <a:p>
                      <a:pPr>
                        <a:buNone/>
                      </a:pPr>
                      <a:r>
                        <a:rPr lang="en-IN" dirty="0" err="1"/>
                        <a:t>faculty_id</a:t>
                      </a:r>
                      <a:endParaRPr lang="en-IN" dirty="0"/>
                    </a:p>
                  </a:txBody>
                  <a:tcPr anchor="ctr"/>
                </a:tc>
                <a:tc>
                  <a:txBody>
                    <a:bodyPr/>
                    <a:lstStyle/>
                    <a:p>
                      <a:pPr>
                        <a:buNone/>
                      </a:pPr>
                      <a:r>
                        <a:rPr lang="en-IN"/>
                        <a:t>ObjectId</a:t>
                      </a:r>
                    </a:p>
                  </a:txBody>
                  <a:tcPr anchor="ctr"/>
                </a:tc>
                <a:tc>
                  <a:txBody>
                    <a:bodyPr/>
                    <a:lstStyle/>
                    <a:p>
                      <a:pPr>
                        <a:buNone/>
                      </a:pPr>
                      <a:r>
                        <a:rPr lang="en-IN" dirty="0"/>
                        <a:t>Unique ID for faculty</a:t>
                      </a:r>
                    </a:p>
                  </a:txBody>
                  <a:tcPr anchor="ctr"/>
                </a:tc>
                <a:extLst>
                  <a:ext uri="{0D108BD9-81ED-4DB2-BD59-A6C34878D82A}">
                    <a16:rowId xmlns:a16="http://schemas.microsoft.com/office/drawing/2014/main" val="646574615"/>
                  </a:ext>
                </a:extLst>
              </a:tr>
              <a:tr h="784809">
                <a:tc>
                  <a:txBody>
                    <a:bodyPr/>
                    <a:lstStyle/>
                    <a:p>
                      <a:pPr>
                        <a:buNone/>
                      </a:pPr>
                      <a:r>
                        <a:rPr lang="en-IN" dirty="0"/>
                        <a:t>name</a:t>
                      </a:r>
                    </a:p>
                  </a:txBody>
                  <a:tcPr anchor="ctr"/>
                </a:tc>
                <a:tc>
                  <a:txBody>
                    <a:bodyPr/>
                    <a:lstStyle/>
                    <a:p>
                      <a:pPr>
                        <a:buNone/>
                      </a:pPr>
                      <a:r>
                        <a:rPr lang="en-IN"/>
                        <a:t>String</a:t>
                      </a:r>
                    </a:p>
                  </a:txBody>
                  <a:tcPr anchor="ctr"/>
                </a:tc>
                <a:tc>
                  <a:txBody>
                    <a:bodyPr/>
                    <a:lstStyle/>
                    <a:p>
                      <a:pPr>
                        <a:buNone/>
                      </a:pPr>
                      <a:r>
                        <a:rPr lang="en-IN" dirty="0"/>
                        <a:t>Faculty full name</a:t>
                      </a:r>
                    </a:p>
                  </a:txBody>
                  <a:tcPr anchor="ctr"/>
                </a:tc>
                <a:extLst>
                  <a:ext uri="{0D108BD9-81ED-4DB2-BD59-A6C34878D82A}">
                    <a16:rowId xmlns:a16="http://schemas.microsoft.com/office/drawing/2014/main" val="3210666414"/>
                  </a:ext>
                </a:extLst>
              </a:tr>
              <a:tr h="784809">
                <a:tc>
                  <a:txBody>
                    <a:bodyPr/>
                    <a:lstStyle/>
                    <a:p>
                      <a:pPr>
                        <a:buNone/>
                      </a:pPr>
                      <a:r>
                        <a:rPr lang="en-IN" dirty="0"/>
                        <a:t>email</a:t>
                      </a:r>
                    </a:p>
                  </a:txBody>
                  <a:tcPr anchor="ctr"/>
                </a:tc>
                <a:tc>
                  <a:txBody>
                    <a:bodyPr/>
                    <a:lstStyle/>
                    <a:p>
                      <a:pPr>
                        <a:buNone/>
                      </a:pPr>
                      <a:r>
                        <a:rPr lang="en-IN"/>
                        <a:t>String</a:t>
                      </a:r>
                    </a:p>
                  </a:txBody>
                  <a:tcPr anchor="ctr"/>
                </a:tc>
                <a:tc>
                  <a:txBody>
                    <a:bodyPr/>
                    <a:lstStyle/>
                    <a:p>
                      <a:pPr>
                        <a:buNone/>
                      </a:pPr>
                      <a:r>
                        <a:rPr lang="en-IN" dirty="0"/>
                        <a:t>Faculty email (unique)</a:t>
                      </a:r>
                    </a:p>
                  </a:txBody>
                  <a:tcPr anchor="ctr"/>
                </a:tc>
                <a:extLst>
                  <a:ext uri="{0D108BD9-81ED-4DB2-BD59-A6C34878D82A}">
                    <a16:rowId xmlns:a16="http://schemas.microsoft.com/office/drawing/2014/main" val="662896422"/>
                  </a:ext>
                </a:extLst>
              </a:tr>
              <a:tr h="784809">
                <a:tc>
                  <a:txBody>
                    <a:bodyPr/>
                    <a:lstStyle/>
                    <a:p>
                      <a:pPr>
                        <a:buNone/>
                      </a:pPr>
                      <a:r>
                        <a:rPr lang="en-IN" dirty="0" err="1"/>
                        <a:t>department_id</a:t>
                      </a:r>
                      <a:endParaRPr lang="en-IN" dirty="0"/>
                    </a:p>
                  </a:txBody>
                  <a:tcPr anchor="ctr"/>
                </a:tc>
                <a:tc>
                  <a:txBody>
                    <a:bodyPr/>
                    <a:lstStyle/>
                    <a:p>
                      <a:pPr>
                        <a:buNone/>
                      </a:pPr>
                      <a:r>
                        <a:rPr lang="en-IN"/>
                        <a:t>ObjectId</a:t>
                      </a:r>
                    </a:p>
                  </a:txBody>
                  <a:tcPr anchor="ctr"/>
                </a:tc>
                <a:tc>
                  <a:txBody>
                    <a:bodyPr/>
                    <a:lstStyle/>
                    <a:p>
                      <a:pPr>
                        <a:buNone/>
                      </a:pPr>
                      <a:r>
                        <a:rPr lang="en-IN" dirty="0"/>
                        <a:t>Linked department ID</a:t>
                      </a:r>
                    </a:p>
                  </a:txBody>
                  <a:tcPr anchor="ctr"/>
                </a:tc>
                <a:extLst>
                  <a:ext uri="{0D108BD9-81ED-4DB2-BD59-A6C34878D82A}">
                    <a16:rowId xmlns:a16="http://schemas.microsoft.com/office/drawing/2014/main" val="1727840039"/>
                  </a:ext>
                </a:extLst>
              </a:tr>
              <a:tr h="924953">
                <a:tc>
                  <a:txBody>
                    <a:bodyPr/>
                    <a:lstStyle/>
                    <a:p>
                      <a:pPr>
                        <a:buNone/>
                      </a:pPr>
                      <a:r>
                        <a:rPr lang="en-IN" dirty="0" err="1"/>
                        <a:t>password_hash</a:t>
                      </a:r>
                      <a:endParaRPr lang="en-IN" dirty="0"/>
                    </a:p>
                  </a:txBody>
                  <a:tcPr anchor="ctr"/>
                </a:tc>
                <a:tc>
                  <a:txBody>
                    <a:bodyPr/>
                    <a:lstStyle/>
                    <a:p>
                      <a:pPr algn="l" fontAlgn="base">
                        <a:buNone/>
                      </a:pPr>
                      <a:r>
                        <a:rPr lang="en-US" dirty="0">
                          <a:effectLst/>
                        </a:rPr>
                        <a:t>String</a:t>
                      </a:r>
                      <a:endParaRPr lang="en-IN" dirty="0">
                        <a:effectLst/>
                      </a:endParaRPr>
                    </a:p>
                  </a:txBody>
                  <a:tcPr marB="160020" anchor="ctr"/>
                </a:tc>
                <a:tc>
                  <a:txBody>
                    <a:bodyPr/>
                    <a:lstStyle/>
                    <a:p>
                      <a:pPr algn="l" fontAlgn="base">
                        <a:buNone/>
                      </a:pPr>
                      <a:r>
                        <a:rPr lang="en-IN" dirty="0">
                          <a:effectLst/>
                        </a:rPr>
                        <a:t>Encrypted password</a:t>
                      </a:r>
                    </a:p>
                  </a:txBody>
                  <a:tcPr marB="160020" anchor="ctr"/>
                </a:tc>
                <a:extLst>
                  <a:ext uri="{0D108BD9-81ED-4DB2-BD59-A6C34878D82A}">
                    <a16:rowId xmlns:a16="http://schemas.microsoft.com/office/drawing/2014/main" val="3014192520"/>
                  </a:ext>
                </a:extLst>
              </a:tr>
            </a:tbl>
          </a:graphicData>
        </a:graphic>
      </p:graphicFrame>
    </p:spTree>
    <p:extLst>
      <p:ext uri="{BB962C8B-B14F-4D97-AF65-F5344CB8AC3E}">
        <p14:creationId xmlns:p14="http://schemas.microsoft.com/office/powerpoint/2010/main" val="2565870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A0787-E769-8B37-025D-041FF5E1BF90}"/>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3476D6BF-13C6-C6B0-36DF-F1559314FAB1}"/>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70BE4208-2AED-46E3-654C-0DE2B83F7F41}"/>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8994CB99-6727-2B94-DE57-F503E8F8FB69}"/>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2851F0DB-95C6-22C8-2435-DA8595A2F763}"/>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7689328C-CC9D-EEE6-AEF0-27195081DA2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ECEAD52A-D6BA-B4AE-C1E4-8A54366273AF}"/>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FAB0F939-F8B0-7014-4713-2E3FA82313DF}"/>
              </a:ext>
            </a:extLst>
          </p:cNvPr>
          <p:cNvPicPr/>
          <p:nvPr/>
        </p:nvPicPr>
        <p:blipFill>
          <a:blip r:embed="rId6" cstate="print"/>
          <a:stretch>
            <a:fillRect/>
          </a:stretch>
        </p:blipFill>
        <p:spPr>
          <a:xfrm>
            <a:off x="290750" y="204311"/>
            <a:ext cx="1163002" cy="424338"/>
          </a:xfrm>
          <a:prstGeom prst="rect">
            <a:avLst/>
          </a:prstGeom>
        </p:spPr>
      </p:pic>
      <p:sp>
        <p:nvSpPr>
          <p:cNvPr id="14" name="Rectangle 1">
            <a:extLst>
              <a:ext uri="{FF2B5EF4-FFF2-40B4-BE49-F238E27FC236}">
                <a16:creationId xmlns:a16="http://schemas.microsoft.com/office/drawing/2014/main" id="{5B21D3BD-4888-1A64-1253-88CC236E0A2A}"/>
              </a:ext>
            </a:extLst>
          </p:cNvPr>
          <p:cNvSpPr>
            <a:spLocks noChangeArrowheads="1"/>
          </p:cNvSpPr>
          <p:nvPr/>
        </p:nvSpPr>
        <p:spPr bwMode="auto">
          <a:xfrm>
            <a:off x="2468563" y="2046288"/>
            <a:ext cx="10058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400" b="1" i="0" u="none" strike="noStrike" cap="none" normalizeH="0" baseline="0">
                <a:ln>
                  <a:noFill/>
                </a:ln>
                <a:solidFill>
                  <a:schemeClr val="tx1"/>
                </a:solidFill>
                <a:effectLst/>
                <a:latin typeface="Arial" panose="020B0604020202020204" pitchFamily="34" charset="0"/>
                <a:ea typeface="Calibri" panose="020F050202020403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B1E74EE2-5418-9148-F7DC-049380B2B170}"/>
              </a:ext>
            </a:extLst>
          </p:cNvPr>
          <p:cNvSpPr txBox="1"/>
          <p:nvPr/>
        </p:nvSpPr>
        <p:spPr>
          <a:xfrm>
            <a:off x="914400" y="1037173"/>
            <a:ext cx="8458199" cy="1677382"/>
          </a:xfrm>
          <a:prstGeom prst="rect">
            <a:avLst/>
          </a:prstGeom>
          <a:noFill/>
        </p:spPr>
        <p:txBody>
          <a:bodyPr wrap="square">
            <a:spAutoFit/>
          </a:bodyPr>
          <a:lstStyle/>
          <a:p>
            <a:pPr>
              <a:buNone/>
            </a:pPr>
            <a:r>
              <a:rPr lang="en-IN" b="1" dirty="0"/>
              <a:t>3.3 Table Relationships</a:t>
            </a:r>
            <a:endParaRPr lang="en-US" b="1" dirty="0"/>
          </a:p>
          <a:p>
            <a:pPr>
              <a:buNone/>
            </a:pPr>
            <a:r>
              <a:rPr lang="en-US" sz="1700" dirty="0"/>
              <a:t>The system’s tables are connected through logical relationships where each student and subject can have multiple attendance records. Faculty members are linked to the subjects they handle, and every department is associated with its students, faculty, and subjects. These relationships ensure smooth data flow and accurate attendance tracking across the system.</a:t>
            </a:r>
          </a:p>
        </p:txBody>
      </p:sp>
      <p:graphicFrame>
        <p:nvGraphicFramePr>
          <p:cNvPr id="15" name="Table 14">
            <a:extLst>
              <a:ext uri="{FF2B5EF4-FFF2-40B4-BE49-F238E27FC236}">
                <a16:creationId xmlns:a16="http://schemas.microsoft.com/office/drawing/2014/main" id="{095E292C-6E3D-5BEF-C8C8-7FAA1BF6A142}"/>
              </a:ext>
            </a:extLst>
          </p:cNvPr>
          <p:cNvGraphicFramePr>
            <a:graphicFrameLocks noGrp="1"/>
          </p:cNvGraphicFramePr>
          <p:nvPr>
            <p:extLst>
              <p:ext uri="{D42A27DB-BD31-4B8C-83A1-F6EECF244321}">
                <p14:modId xmlns:p14="http://schemas.microsoft.com/office/powerpoint/2010/main" val="3807736542"/>
              </p:ext>
            </p:extLst>
          </p:nvPr>
        </p:nvGraphicFramePr>
        <p:xfrm>
          <a:off x="1295400" y="2886532"/>
          <a:ext cx="7315200" cy="3666667"/>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275511056"/>
                    </a:ext>
                  </a:extLst>
                </a:gridCol>
                <a:gridCol w="2438400">
                  <a:extLst>
                    <a:ext uri="{9D8B030D-6E8A-4147-A177-3AD203B41FA5}">
                      <a16:colId xmlns:a16="http://schemas.microsoft.com/office/drawing/2014/main" val="569359067"/>
                    </a:ext>
                  </a:extLst>
                </a:gridCol>
                <a:gridCol w="2438400">
                  <a:extLst>
                    <a:ext uri="{9D8B030D-6E8A-4147-A177-3AD203B41FA5}">
                      <a16:colId xmlns:a16="http://schemas.microsoft.com/office/drawing/2014/main" val="1709032271"/>
                    </a:ext>
                  </a:extLst>
                </a:gridCol>
              </a:tblGrid>
              <a:tr h="545146">
                <a:tc>
                  <a:txBody>
                    <a:bodyPr/>
                    <a:lstStyle/>
                    <a:p>
                      <a:pPr>
                        <a:buNone/>
                      </a:pPr>
                      <a:r>
                        <a:rPr lang="en-IN" b="1" dirty="0"/>
                        <a:t>Field Name</a:t>
                      </a:r>
                      <a:endParaRPr lang="en-IN" dirty="0"/>
                    </a:p>
                  </a:txBody>
                  <a:tcPr anchor="ctr"/>
                </a:tc>
                <a:tc>
                  <a:txBody>
                    <a:bodyPr/>
                    <a:lstStyle/>
                    <a:p>
                      <a:pPr>
                        <a:buNone/>
                      </a:pPr>
                      <a:r>
                        <a:rPr lang="en-IN" b="1"/>
                        <a:t>Data Type</a:t>
                      </a:r>
                      <a:endParaRPr lang="en-IN"/>
                    </a:p>
                  </a:txBody>
                  <a:tcPr anchor="ctr"/>
                </a:tc>
                <a:tc>
                  <a:txBody>
                    <a:bodyPr/>
                    <a:lstStyle/>
                    <a:p>
                      <a:pPr>
                        <a:buNone/>
                      </a:pPr>
                      <a:r>
                        <a:rPr lang="en-IN" b="1" dirty="0"/>
                        <a:t>Description</a:t>
                      </a:r>
                      <a:endParaRPr lang="en-IN" dirty="0"/>
                    </a:p>
                  </a:txBody>
                  <a:tcPr anchor="ctr"/>
                </a:tc>
                <a:extLst>
                  <a:ext uri="{0D108BD9-81ED-4DB2-BD59-A6C34878D82A}">
                    <a16:rowId xmlns:a16="http://schemas.microsoft.com/office/drawing/2014/main" val="3046770322"/>
                  </a:ext>
                </a:extLst>
              </a:tr>
              <a:tr h="545146">
                <a:tc>
                  <a:txBody>
                    <a:bodyPr/>
                    <a:lstStyle/>
                    <a:p>
                      <a:pPr>
                        <a:buNone/>
                      </a:pPr>
                      <a:r>
                        <a:rPr lang="en-IN" dirty="0" err="1"/>
                        <a:t>subject_id</a:t>
                      </a:r>
                      <a:endParaRPr lang="en-IN" dirty="0"/>
                    </a:p>
                  </a:txBody>
                  <a:tcPr anchor="ctr"/>
                </a:tc>
                <a:tc>
                  <a:txBody>
                    <a:bodyPr/>
                    <a:lstStyle/>
                    <a:p>
                      <a:pPr>
                        <a:buNone/>
                      </a:pPr>
                      <a:r>
                        <a:rPr lang="en-IN"/>
                        <a:t>ObjectId</a:t>
                      </a:r>
                    </a:p>
                  </a:txBody>
                  <a:tcPr anchor="ctr"/>
                </a:tc>
                <a:tc>
                  <a:txBody>
                    <a:bodyPr/>
                    <a:lstStyle/>
                    <a:p>
                      <a:pPr>
                        <a:buNone/>
                      </a:pPr>
                      <a:r>
                        <a:rPr lang="en-IN" dirty="0"/>
                        <a:t>Unique subject ID</a:t>
                      </a:r>
                    </a:p>
                  </a:txBody>
                  <a:tcPr anchor="ctr"/>
                </a:tc>
                <a:extLst>
                  <a:ext uri="{0D108BD9-81ED-4DB2-BD59-A6C34878D82A}">
                    <a16:rowId xmlns:a16="http://schemas.microsoft.com/office/drawing/2014/main" val="3969138028"/>
                  </a:ext>
                </a:extLst>
              </a:tr>
              <a:tr h="545146">
                <a:tc>
                  <a:txBody>
                    <a:bodyPr/>
                    <a:lstStyle/>
                    <a:p>
                      <a:pPr>
                        <a:buNone/>
                      </a:pPr>
                      <a:r>
                        <a:rPr lang="en-IN"/>
                        <a:t>subject_code</a:t>
                      </a:r>
                    </a:p>
                  </a:txBody>
                  <a:tcPr anchor="ctr"/>
                </a:tc>
                <a:tc>
                  <a:txBody>
                    <a:bodyPr/>
                    <a:lstStyle/>
                    <a:p>
                      <a:pPr>
                        <a:buNone/>
                      </a:pPr>
                      <a:r>
                        <a:rPr lang="en-IN"/>
                        <a:t>String</a:t>
                      </a:r>
                    </a:p>
                  </a:txBody>
                  <a:tcPr anchor="ctr"/>
                </a:tc>
                <a:tc>
                  <a:txBody>
                    <a:bodyPr/>
                    <a:lstStyle/>
                    <a:p>
                      <a:pPr>
                        <a:buNone/>
                      </a:pPr>
                      <a:r>
                        <a:rPr lang="en-IN"/>
                        <a:t>Unique subject code</a:t>
                      </a:r>
                    </a:p>
                  </a:txBody>
                  <a:tcPr anchor="ctr"/>
                </a:tc>
                <a:extLst>
                  <a:ext uri="{0D108BD9-81ED-4DB2-BD59-A6C34878D82A}">
                    <a16:rowId xmlns:a16="http://schemas.microsoft.com/office/drawing/2014/main" val="3298608887"/>
                  </a:ext>
                </a:extLst>
              </a:tr>
              <a:tr h="545146">
                <a:tc>
                  <a:txBody>
                    <a:bodyPr/>
                    <a:lstStyle/>
                    <a:p>
                      <a:pPr>
                        <a:buNone/>
                      </a:pPr>
                      <a:r>
                        <a:rPr lang="en-IN"/>
                        <a:t>subject_name</a:t>
                      </a:r>
                    </a:p>
                  </a:txBody>
                  <a:tcPr anchor="ctr"/>
                </a:tc>
                <a:tc>
                  <a:txBody>
                    <a:bodyPr/>
                    <a:lstStyle/>
                    <a:p>
                      <a:pPr>
                        <a:buNone/>
                      </a:pPr>
                      <a:r>
                        <a:rPr lang="en-IN"/>
                        <a:t>String</a:t>
                      </a:r>
                    </a:p>
                  </a:txBody>
                  <a:tcPr anchor="ctr"/>
                </a:tc>
                <a:tc>
                  <a:txBody>
                    <a:bodyPr/>
                    <a:lstStyle/>
                    <a:p>
                      <a:pPr>
                        <a:buNone/>
                      </a:pPr>
                      <a:r>
                        <a:rPr lang="en-IN"/>
                        <a:t>Subject title</a:t>
                      </a:r>
                    </a:p>
                  </a:txBody>
                  <a:tcPr anchor="ctr"/>
                </a:tc>
                <a:extLst>
                  <a:ext uri="{0D108BD9-81ED-4DB2-BD59-A6C34878D82A}">
                    <a16:rowId xmlns:a16="http://schemas.microsoft.com/office/drawing/2014/main" val="1494148371"/>
                  </a:ext>
                </a:extLst>
              </a:tr>
              <a:tr h="545146">
                <a:tc>
                  <a:txBody>
                    <a:bodyPr/>
                    <a:lstStyle/>
                    <a:p>
                      <a:pPr>
                        <a:buNone/>
                      </a:pPr>
                      <a:r>
                        <a:rPr lang="en-IN"/>
                        <a:t>department_id</a:t>
                      </a:r>
                    </a:p>
                  </a:txBody>
                  <a:tcPr anchor="ctr"/>
                </a:tc>
                <a:tc>
                  <a:txBody>
                    <a:bodyPr/>
                    <a:lstStyle/>
                    <a:p>
                      <a:pPr>
                        <a:buNone/>
                      </a:pPr>
                      <a:r>
                        <a:rPr lang="en-IN"/>
                        <a:t>ObjectId</a:t>
                      </a:r>
                    </a:p>
                  </a:txBody>
                  <a:tcPr anchor="ctr"/>
                </a:tc>
                <a:tc>
                  <a:txBody>
                    <a:bodyPr/>
                    <a:lstStyle/>
                    <a:p>
                      <a:pPr>
                        <a:buNone/>
                      </a:pPr>
                      <a:r>
                        <a:rPr lang="en-IN"/>
                        <a:t>Linked department ID</a:t>
                      </a:r>
                    </a:p>
                  </a:txBody>
                  <a:tcPr anchor="ctr"/>
                </a:tc>
                <a:extLst>
                  <a:ext uri="{0D108BD9-81ED-4DB2-BD59-A6C34878D82A}">
                    <a16:rowId xmlns:a16="http://schemas.microsoft.com/office/drawing/2014/main" val="539904396"/>
                  </a:ext>
                </a:extLst>
              </a:tr>
              <a:tr h="940937">
                <a:tc>
                  <a:txBody>
                    <a:bodyPr/>
                    <a:lstStyle/>
                    <a:p>
                      <a:pPr>
                        <a:buNone/>
                      </a:pPr>
                      <a:r>
                        <a:rPr lang="en-IN"/>
                        <a:t>faculty_id</a:t>
                      </a:r>
                    </a:p>
                  </a:txBody>
                  <a:tcPr anchor="ctr"/>
                </a:tc>
                <a:tc>
                  <a:txBody>
                    <a:bodyPr/>
                    <a:lstStyle/>
                    <a:p>
                      <a:pPr>
                        <a:buNone/>
                      </a:pPr>
                      <a:r>
                        <a:rPr lang="en-IN"/>
                        <a:t>ObjectId</a:t>
                      </a:r>
                    </a:p>
                  </a:txBody>
                  <a:tcPr anchor="ctr"/>
                </a:tc>
                <a:tc>
                  <a:txBody>
                    <a:bodyPr/>
                    <a:lstStyle/>
                    <a:p>
                      <a:pPr>
                        <a:buNone/>
                      </a:pPr>
                      <a:r>
                        <a:rPr lang="en-US" dirty="0"/>
                        <a:t>Faculty assigned to the subject</a:t>
                      </a:r>
                    </a:p>
                  </a:txBody>
                  <a:tcPr anchor="ctr"/>
                </a:tc>
                <a:extLst>
                  <a:ext uri="{0D108BD9-81ED-4DB2-BD59-A6C34878D82A}">
                    <a16:rowId xmlns:a16="http://schemas.microsoft.com/office/drawing/2014/main" val="4232161751"/>
                  </a:ext>
                </a:extLst>
              </a:tr>
            </a:tbl>
          </a:graphicData>
        </a:graphic>
      </p:graphicFrame>
    </p:spTree>
    <p:extLst>
      <p:ext uri="{BB962C8B-B14F-4D97-AF65-F5344CB8AC3E}">
        <p14:creationId xmlns:p14="http://schemas.microsoft.com/office/powerpoint/2010/main" val="13270930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object 3">
            <a:extLst>
              <a:ext uri="{FF2B5EF4-FFF2-40B4-BE49-F238E27FC236}">
                <a16:creationId xmlns:a16="http://schemas.microsoft.com/office/drawing/2014/main" id="{21ABBE52-8710-4E6B-00A1-6AE2E264A905}"/>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BB01548A-FFE9-E3D8-12A9-78CF21156550}"/>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C2274CD8-F01F-9319-4AED-E01AFBB7B3F4}"/>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798807C2-A29E-0BF3-6CFE-592456DB3D5A}"/>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0012A6F5-DCDD-5346-54A8-BF352762053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3953B3A5-B246-55AD-515B-436ED9F0D042}"/>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DESIGN</a:t>
            </a:r>
          </a:p>
        </p:txBody>
      </p:sp>
      <p:pic>
        <p:nvPicPr>
          <p:cNvPr id="11" name="object 3">
            <a:extLst>
              <a:ext uri="{FF2B5EF4-FFF2-40B4-BE49-F238E27FC236}">
                <a16:creationId xmlns:a16="http://schemas.microsoft.com/office/drawing/2014/main" id="{A01798C2-99DE-A723-BAF6-CF11F4E8C1FC}"/>
              </a:ext>
            </a:extLst>
          </p:cNvPr>
          <p:cNvPicPr/>
          <p:nvPr/>
        </p:nvPicPr>
        <p:blipFill>
          <a:blip r:embed="rId6" cstate="print"/>
          <a:stretch>
            <a:fillRect/>
          </a:stretch>
        </p:blipFill>
        <p:spPr>
          <a:xfrm>
            <a:off x="290750" y="204311"/>
            <a:ext cx="1163002" cy="424338"/>
          </a:xfrm>
          <a:prstGeom prst="rect">
            <a:avLst/>
          </a:prstGeom>
        </p:spPr>
      </p:pic>
      <p:sp>
        <p:nvSpPr>
          <p:cNvPr id="12" name="TextBox 11">
            <a:extLst>
              <a:ext uri="{FF2B5EF4-FFF2-40B4-BE49-F238E27FC236}">
                <a16:creationId xmlns:a16="http://schemas.microsoft.com/office/drawing/2014/main" id="{B18635F6-0A92-E0EE-9045-DEDFC805DE09}"/>
              </a:ext>
            </a:extLst>
          </p:cNvPr>
          <p:cNvSpPr txBox="1"/>
          <p:nvPr/>
        </p:nvSpPr>
        <p:spPr>
          <a:xfrm>
            <a:off x="685800" y="1025147"/>
            <a:ext cx="8382000" cy="6500497"/>
          </a:xfrm>
          <a:prstGeom prst="rect">
            <a:avLst/>
          </a:prstGeom>
          <a:noFill/>
        </p:spPr>
        <p:txBody>
          <a:bodyPr wrap="square">
            <a:spAutoFit/>
          </a:bodyPr>
          <a:lstStyle/>
          <a:p>
            <a:pPr>
              <a:lnSpc>
                <a:spcPct val="200000"/>
              </a:lnSpc>
              <a:buNone/>
            </a:pPr>
            <a:r>
              <a:rPr lang="en-IN" sz="1900" b="1" dirty="0"/>
              <a:t>4.1 Architecture</a:t>
            </a:r>
          </a:p>
          <a:p>
            <a:pPr>
              <a:lnSpc>
                <a:spcPct val="200000"/>
              </a:lnSpc>
              <a:buNone/>
            </a:pPr>
            <a:r>
              <a:rPr lang="en-IN" dirty="0"/>
              <a:t>Three-layer architecture:</a:t>
            </a:r>
          </a:p>
          <a:p>
            <a:pPr>
              <a:lnSpc>
                <a:spcPct val="200000"/>
              </a:lnSpc>
              <a:buFont typeface="+mj-lt"/>
              <a:buAutoNum type="arabicPeriod"/>
            </a:pPr>
            <a:r>
              <a:rPr lang="en-IN" sz="1600" b="1" dirty="0"/>
              <a:t>Frontend (React + Tailwind CSS)</a:t>
            </a:r>
            <a:r>
              <a:rPr lang="en-IN" sz="1600" dirty="0"/>
              <a:t> </a:t>
            </a:r>
          </a:p>
          <a:p>
            <a:pPr>
              <a:lnSpc>
                <a:spcPct val="200000"/>
              </a:lnSpc>
              <a:buFont typeface="+mj-lt"/>
              <a:buAutoNum type="arabicPeriod"/>
            </a:pPr>
            <a:r>
              <a:rPr lang="en-IN" sz="1600" b="1" dirty="0"/>
              <a:t>Backend (Node.js + Express.js)</a:t>
            </a:r>
            <a:r>
              <a:rPr lang="en-IN" sz="1600" dirty="0"/>
              <a:t> </a:t>
            </a:r>
          </a:p>
          <a:p>
            <a:pPr>
              <a:lnSpc>
                <a:spcPct val="200000"/>
              </a:lnSpc>
              <a:buFont typeface="+mj-lt"/>
              <a:buAutoNum type="arabicPeriod"/>
            </a:pPr>
            <a:r>
              <a:rPr lang="en-IN" sz="1600" b="1" dirty="0"/>
              <a:t>Database Layer (MongoDB)</a:t>
            </a:r>
            <a:r>
              <a:rPr lang="en-IN" sz="1600" dirty="0"/>
              <a:t> </a:t>
            </a:r>
          </a:p>
          <a:p>
            <a:pPr>
              <a:lnSpc>
                <a:spcPct val="200000"/>
              </a:lnSpc>
              <a:buNone/>
            </a:pPr>
            <a:r>
              <a:rPr lang="en-IN" b="1" dirty="0"/>
              <a:t>4.2 Modules</a:t>
            </a:r>
          </a:p>
          <a:p>
            <a:pPr>
              <a:lnSpc>
                <a:spcPct val="200000"/>
              </a:lnSpc>
              <a:buFont typeface="Arial" panose="020B0604020202020204" pitchFamily="34" charset="0"/>
              <a:buChar char="•"/>
            </a:pPr>
            <a:r>
              <a:rPr lang="en-IN" b="1" dirty="0"/>
              <a:t>Authentication Module</a:t>
            </a:r>
            <a:r>
              <a:rPr lang="en-IN" dirty="0"/>
              <a:t> – secure login using JWT </a:t>
            </a:r>
          </a:p>
          <a:p>
            <a:pPr>
              <a:lnSpc>
                <a:spcPct val="200000"/>
              </a:lnSpc>
              <a:buFont typeface="Arial" panose="020B0604020202020204" pitchFamily="34" charset="0"/>
              <a:buChar char="•"/>
            </a:pPr>
            <a:r>
              <a:rPr lang="en-IN" b="1" dirty="0"/>
              <a:t>Admin Module</a:t>
            </a:r>
            <a:r>
              <a:rPr lang="en-IN" dirty="0"/>
              <a:t> – manages users, subjects, departments </a:t>
            </a:r>
          </a:p>
          <a:p>
            <a:pPr>
              <a:lnSpc>
                <a:spcPct val="200000"/>
              </a:lnSpc>
              <a:buFont typeface="Arial" panose="020B0604020202020204" pitchFamily="34" charset="0"/>
              <a:buChar char="•"/>
            </a:pPr>
            <a:r>
              <a:rPr lang="en-IN" b="1" dirty="0"/>
              <a:t>Faculty Module</a:t>
            </a:r>
            <a:r>
              <a:rPr lang="en-IN" dirty="0"/>
              <a:t> – mark attendance, view reports </a:t>
            </a:r>
          </a:p>
          <a:p>
            <a:pPr>
              <a:lnSpc>
                <a:spcPct val="200000"/>
              </a:lnSpc>
              <a:buFont typeface="Arial" panose="020B0604020202020204" pitchFamily="34" charset="0"/>
              <a:buChar char="•"/>
            </a:pPr>
            <a:r>
              <a:rPr lang="en-IN" b="1" dirty="0"/>
              <a:t>Attendance Module</a:t>
            </a:r>
            <a:r>
              <a:rPr lang="en-IN" dirty="0"/>
              <a:t> – store session-wise attendance </a:t>
            </a:r>
          </a:p>
          <a:p>
            <a:pPr>
              <a:lnSpc>
                <a:spcPct val="200000"/>
              </a:lnSpc>
              <a:buFont typeface="Arial" panose="020B0604020202020204" pitchFamily="34" charset="0"/>
              <a:buChar char="•"/>
            </a:pPr>
            <a:r>
              <a:rPr lang="en-IN" b="1" dirty="0"/>
              <a:t>Report Module</a:t>
            </a:r>
            <a:r>
              <a:rPr lang="en-IN" dirty="0"/>
              <a:t> – calculate attendance % and generate reports </a:t>
            </a:r>
          </a:p>
          <a:p>
            <a:pPr>
              <a:lnSpc>
                <a:spcPct val="200000"/>
              </a:lnSpc>
              <a:buFont typeface="Arial" panose="020B0604020202020204" pitchFamily="34" charset="0"/>
              <a:buChar char="•"/>
            </a:pPr>
            <a:r>
              <a:rPr lang="en-IN" b="1" dirty="0"/>
              <a:t>Student Dashboard Module</a:t>
            </a:r>
            <a:r>
              <a:rPr lang="en-IN" dirty="0"/>
              <a:t> – view attendance history</a:t>
            </a:r>
          </a:p>
        </p:txBody>
      </p:sp>
    </p:spTree>
    <p:extLst>
      <p:ext uri="{BB962C8B-B14F-4D97-AF65-F5344CB8AC3E}">
        <p14:creationId xmlns:p14="http://schemas.microsoft.com/office/powerpoint/2010/main" val="3144958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17A6E-C969-4FC6-1638-B02DC9858D8E}"/>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18CD80CE-9A20-C3F9-675C-6A5559C46A59}"/>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4EE6F78B-EB8B-E507-510F-5E3E95B98B6F}"/>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60BFA710-1140-7847-52D3-8D6778096E5F}"/>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49D1D7BE-6FAB-E379-94E6-040D6A76585E}"/>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2191A9B2-D3E3-35FE-4108-715E3C7C4CA7}"/>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00A15CDC-61F7-A7B4-E469-6B0C1199925B}"/>
              </a:ext>
            </a:extLst>
          </p:cNvPr>
          <p:cNvSpPr txBox="1">
            <a:spLocks noGrp="1"/>
          </p:cNvSpPr>
          <p:nvPr>
            <p:ph type="title"/>
          </p:nvPr>
        </p:nvSpPr>
        <p:spPr>
          <a:xfrm>
            <a:off x="3945254" y="432593"/>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C4C71D08-C2F1-0E7E-1D5D-669DEF4FBD1A}"/>
              </a:ext>
            </a:extLst>
          </p:cNvPr>
          <p:cNvPicPr/>
          <p:nvPr/>
        </p:nvPicPr>
        <p:blipFill>
          <a:blip r:embed="rId6" cstate="print"/>
          <a:stretch>
            <a:fillRect/>
          </a:stretch>
        </p:blipFill>
        <p:spPr>
          <a:xfrm>
            <a:off x="290750" y="204311"/>
            <a:ext cx="1163002" cy="424338"/>
          </a:xfrm>
          <a:prstGeom prst="rect">
            <a:avLst/>
          </a:prstGeom>
        </p:spPr>
      </p:pic>
      <p:sp>
        <p:nvSpPr>
          <p:cNvPr id="2" name="Rectangle 1">
            <a:extLst>
              <a:ext uri="{FF2B5EF4-FFF2-40B4-BE49-F238E27FC236}">
                <a16:creationId xmlns:a16="http://schemas.microsoft.com/office/drawing/2014/main" id="{42945633-1942-E5EE-4FAF-F4FD730841A6}"/>
              </a:ext>
            </a:extLst>
          </p:cNvPr>
          <p:cNvSpPr>
            <a:spLocks noChangeArrowheads="1"/>
          </p:cNvSpPr>
          <p:nvPr/>
        </p:nvSpPr>
        <p:spPr bwMode="auto">
          <a:xfrm>
            <a:off x="1027771" y="1391821"/>
            <a:ext cx="5006499" cy="872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Login Screen:</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Secure login for Admin, Faculty, and Students.</a:t>
            </a:r>
          </a:p>
        </p:txBody>
      </p:sp>
      <p:pic>
        <p:nvPicPr>
          <p:cNvPr id="13" name="Picture 12">
            <a:extLst>
              <a:ext uri="{FF2B5EF4-FFF2-40B4-BE49-F238E27FC236}">
                <a16:creationId xmlns:a16="http://schemas.microsoft.com/office/drawing/2014/main" id="{058FC1BE-6E3A-FFC3-5B00-71580B488A9B}"/>
              </a:ext>
            </a:extLst>
          </p:cNvPr>
          <p:cNvPicPr>
            <a:picLocks noChangeAspect="1"/>
          </p:cNvPicPr>
          <p:nvPr/>
        </p:nvPicPr>
        <p:blipFill>
          <a:blip r:embed="rId7"/>
          <a:stretch>
            <a:fillRect/>
          </a:stretch>
        </p:blipFill>
        <p:spPr>
          <a:xfrm>
            <a:off x="990600" y="2743200"/>
            <a:ext cx="8077200" cy="4343400"/>
          </a:xfrm>
          <a:prstGeom prst="rect">
            <a:avLst/>
          </a:prstGeom>
        </p:spPr>
      </p:pic>
    </p:spTree>
    <p:extLst>
      <p:ext uri="{BB962C8B-B14F-4D97-AF65-F5344CB8AC3E}">
        <p14:creationId xmlns:p14="http://schemas.microsoft.com/office/powerpoint/2010/main" val="25142697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882AF-3F85-D02B-B167-92BB06FA78F0}"/>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51F8D081-5351-6A34-F61D-4BFC9E697C5D}"/>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5B86A6D7-44C7-3F2E-0E87-B0BE38F5E600}"/>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00CAD93E-47B3-5F1C-50C3-CCFC6FA0C347}"/>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D61A56A4-0FD7-4B40-8D6B-4C66C95E7C91}"/>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CA7F524B-FE9E-1FF8-1621-5EDB9B2A9EB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CFAF95C4-DE06-BB07-8BE1-1C14ACA3AC98}"/>
              </a:ext>
            </a:extLst>
          </p:cNvPr>
          <p:cNvSpPr txBox="1">
            <a:spLocks noGrp="1"/>
          </p:cNvSpPr>
          <p:nvPr>
            <p:ph type="title"/>
          </p:nvPr>
        </p:nvSpPr>
        <p:spPr>
          <a:xfrm>
            <a:off x="3724479" y="411877"/>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C43AD385-1BD8-C19B-6526-BBB862770E82}"/>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4AFF07AE-F08A-33F5-5B7D-6971BA9BA1B8}"/>
              </a:ext>
            </a:extLst>
          </p:cNvPr>
          <p:cNvSpPr txBox="1"/>
          <p:nvPr/>
        </p:nvSpPr>
        <p:spPr>
          <a:xfrm>
            <a:off x="898270" y="1398699"/>
            <a:ext cx="7712329" cy="646331"/>
          </a:xfrm>
          <a:prstGeom prst="rect">
            <a:avLst/>
          </a:prstGeom>
          <a:noFill/>
        </p:spPr>
        <p:txBody>
          <a:bodyPr wrap="square">
            <a:spAutoFit/>
          </a:bodyPr>
          <a:lstStyle/>
          <a:p>
            <a:pPr>
              <a:buNone/>
            </a:pPr>
            <a:r>
              <a:rPr lang="en-US" b="1" dirty="0"/>
              <a:t>Admin Dashboard:</a:t>
            </a:r>
          </a:p>
          <a:p>
            <a:pPr>
              <a:buNone/>
            </a:pPr>
            <a:r>
              <a:rPr lang="en-US" dirty="0"/>
              <a:t>Displays numbers of students, faculty, subjects, and overall statistics.</a:t>
            </a:r>
          </a:p>
        </p:txBody>
      </p:sp>
      <p:pic>
        <p:nvPicPr>
          <p:cNvPr id="12" name="Picture 11">
            <a:extLst>
              <a:ext uri="{FF2B5EF4-FFF2-40B4-BE49-F238E27FC236}">
                <a16:creationId xmlns:a16="http://schemas.microsoft.com/office/drawing/2014/main" id="{DBE70E1F-F999-1839-4934-2558AC4C65C1}"/>
              </a:ext>
            </a:extLst>
          </p:cNvPr>
          <p:cNvPicPr>
            <a:picLocks noChangeAspect="1"/>
          </p:cNvPicPr>
          <p:nvPr/>
        </p:nvPicPr>
        <p:blipFill>
          <a:blip r:embed="rId7"/>
          <a:stretch>
            <a:fillRect/>
          </a:stretch>
        </p:blipFill>
        <p:spPr>
          <a:xfrm>
            <a:off x="1453752" y="2291748"/>
            <a:ext cx="7461648" cy="4081953"/>
          </a:xfrm>
          <a:prstGeom prst="rect">
            <a:avLst/>
          </a:prstGeom>
        </p:spPr>
      </p:pic>
    </p:spTree>
    <p:extLst>
      <p:ext uri="{BB962C8B-B14F-4D97-AF65-F5344CB8AC3E}">
        <p14:creationId xmlns:p14="http://schemas.microsoft.com/office/powerpoint/2010/main" val="29724830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A61D0-099F-C774-0062-C8956AD10B14}"/>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C44C1A33-7C14-0DEB-3965-284AF49FCF96}"/>
              </a:ext>
            </a:extLst>
          </p:cNvPr>
          <p:cNvGrpSpPr/>
          <p:nvPr/>
        </p:nvGrpSpPr>
        <p:grpSpPr>
          <a:xfrm>
            <a:off x="2477248" y="200594"/>
            <a:ext cx="5103904" cy="1198311"/>
            <a:chOff x="2648188" y="47148"/>
            <a:chExt cx="5103904" cy="1198311"/>
          </a:xfrm>
        </p:grpSpPr>
        <p:pic>
          <p:nvPicPr>
            <p:cNvPr id="6" name="object 4">
              <a:extLst>
                <a:ext uri="{FF2B5EF4-FFF2-40B4-BE49-F238E27FC236}">
                  <a16:creationId xmlns:a16="http://schemas.microsoft.com/office/drawing/2014/main" id="{B5AD8913-F996-8CEC-7934-417EC50677A9}"/>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C4C01121-5342-6ED4-E848-5F0A26A4F298}"/>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E76C04D3-36A1-A3D8-4753-54D754D06823}"/>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DEDA527A-944E-DD9F-9390-C3FE8A62152A}"/>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E1E0144C-CD6A-71E3-CB87-9E558AD5FF4A}"/>
              </a:ext>
            </a:extLst>
          </p:cNvPr>
          <p:cNvSpPr txBox="1">
            <a:spLocks noGrp="1"/>
          </p:cNvSpPr>
          <p:nvPr>
            <p:ph type="title"/>
          </p:nvPr>
        </p:nvSpPr>
        <p:spPr>
          <a:xfrm>
            <a:off x="3724479" y="450118"/>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63F76BCB-14FA-BBEA-1CDB-64C0E4637DB7}"/>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D56B738D-6103-AF59-8F8A-40E2CEED7D1C}"/>
              </a:ext>
            </a:extLst>
          </p:cNvPr>
          <p:cNvSpPr txBox="1"/>
          <p:nvPr/>
        </p:nvSpPr>
        <p:spPr>
          <a:xfrm>
            <a:off x="872250" y="1304286"/>
            <a:ext cx="7662149" cy="1287532"/>
          </a:xfrm>
          <a:prstGeom prst="rect">
            <a:avLst/>
          </a:prstGeom>
          <a:noFill/>
        </p:spPr>
        <p:txBody>
          <a:bodyPr wrap="square">
            <a:spAutoFit/>
          </a:bodyPr>
          <a:lstStyle/>
          <a:p>
            <a:pPr>
              <a:lnSpc>
                <a:spcPct val="150000"/>
              </a:lnSpc>
              <a:buNone/>
            </a:pPr>
            <a:r>
              <a:rPr lang="en-US" b="1" dirty="0"/>
              <a:t>Mark Attendance Screen</a:t>
            </a:r>
          </a:p>
          <a:p>
            <a:pPr>
              <a:lnSpc>
                <a:spcPct val="150000"/>
              </a:lnSpc>
              <a:buNone/>
            </a:pPr>
            <a:r>
              <a:rPr lang="en-US" dirty="0"/>
              <a:t>Faculty selects subject → chooses date → marks Present/Absent for each student.</a:t>
            </a:r>
          </a:p>
        </p:txBody>
      </p:sp>
      <p:pic>
        <p:nvPicPr>
          <p:cNvPr id="13" name="Picture 12">
            <a:extLst>
              <a:ext uri="{FF2B5EF4-FFF2-40B4-BE49-F238E27FC236}">
                <a16:creationId xmlns:a16="http://schemas.microsoft.com/office/drawing/2014/main" id="{02547D0A-E95A-309D-71B6-7881C11A1A08}"/>
              </a:ext>
            </a:extLst>
          </p:cNvPr>
          <p:cNvPicPr>
            <a:picLocks noChangeAspect="1"/>
          </p:cNvPicPr>
          <p:nvPr/>
        </p:nvPicPr>
        <p:blipFill>
          <a:blip r:embed="rId7"/>
          <a:stretch>
            <a:fillRect/>
          </a:stretch>
        </p:blipFill>
        <p:spPr>
          <a:xfrm>
            <a:off x="533400" y="2568644"/>
            <a:ext cx="8487960" cy="4753638"/>
          </a:xfrm>
          <a:prstGeom prst="rect">
            <a:avLst/>
          </a:prstGeom>
        </p:spPr>
      </p:pic>
    </p:spTree>
    <p:extLst>
      <p:ext uri="{BB962C8B-B14F-4D97-AF65-F5344CB8AC3E}">
        <p14:creationId xmlns:p14="http://schemas.microsoft.com/office/powerpoint/2010/main" val="3599639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FAADD-4D19-CE1A-A0AE-6EEF35365F00}"/>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D7B9191B-FE96-8A59-9690-2C061E758CB3}"/>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20D78732-F9B9-1FDA-D8E5-B64B1742716B}"/>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0F82D761-8FA6-96D2-9CDC-DFD4213896D4}"/>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678599C3-BD7C-742E-28E2-F7E1A4CB43D8}"/>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9F6FA399-08A4-A0BD-F528-C5D21B7052B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8F364F5D-D793-1E9D-BAE2-D5AEB2FAA6EF}"/>
              </a:ext>
            </a:extLst>
          </p:cNvPr>
          <p:cNvSpPr txBox="1">
            <a:spLocks noGrp="1"/>
          </p:cNvSpPr>
          <p:nvPr>
            <p:ph type="title"/>
          </p:nvPr>
        </p:nvSpPr>
        <p:spPr>
          <a:xfrm>
            <a:off x="3886200" y="416480"/>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3FA4B9F1-F58E-6088-7BFB-C923676C0FFD}"/>
              </a:ext>
            </a:extLst>
          </p:cNvPr>
          <p:cNvPicPr/>
          <p:nvPr/>
        </p:nvPicPr>
        <p:blipFill>
          <a:blip r:embed="rId6" cstate="print"/>
          <a:stretch>
            <a:fillRect/>
          </a:stretch>
        </p:blipFill>
        <p:spPr>
          <a:xfrm>
            <a:off x="290750" y="204311"/>
            <a:ext cx="1163002" cy="424338"/>
          </a:xfrm>
          <a:prstGeom prst="rect">
            <a:avLst/>
          </a:prstGeom>
        </p:spPr>
      </p:pic>
      <p:sp>
        <p:nvSpPr>
          <p:cNvPr id="4" name="TextBox 3">
            <a:extLst>
              <a:ext uri="{FF2B5EF4-FFF2-40B4-BE49-F238E27FC236}">
                <a16:creationId xmlns:a16="http://schemas.microsoft.com/office/drawing/2014/main" id="{3D5A8543-2C9A-44CB-517A-F4FEDF37E6C0}"/>
              </a:ext>
            </a:extLst>
          </p:cNvPr>
          <p:cNvSpPr txBox="1"/>
          <p:nvPr/>
        </p:nvSpPr>
        <p:spPr>
          <a:xfrm>
            <a:off x="1143000" y="1359408"/>
            <a:ext cx="7924800" cy="923330"/>
          </a:xfrm>
          <a:prstGeom prst="rect">
            <a:avLst/>
          </a:prstGeom>
          <a:noFill/>
        </p:spPr>
        <p:txBody>
          <a:bodyPr wrap="square">
            <a:spAutoFit/>
          </a:bodyPr>
          <a:lstStyle/>
          <a:p>
            <a:pPr>
              <a:buNone/>
            </a:pPr>
            <a:r>
              <a:rPr lang="en-US" b="1" dirty="0"/>
              <a:t>Attendance Report Screen</a:t>
            </a:r>
          </a:p>
          <a:p>
            <a:pPr>
              <a:buNone/>
            </a:pPr>
            <a:r>
              <a:rPr lang="en-US" dirty="0"/>
              <a:t>Shows subject-wise and student-wise attendance percentage with shortage alerts.</a:t>
            </a:r>
          </a:p>
        </p:txBody>
      </p:sp>
      <p:pic>
        <p:nvPicPr>
          <p:cNvPr id="14" name="Picture 13">
            <a:extLst>
              <a:ext uri="{FF2B5EF4-FFF2-40B4-BE49-F238E27FC236}">
                <a16:creationId xmlns:a16="http://schemas.microsoft.com/office/drawing/2014/main" id="{D10A9C26-48D9-7444-9940-3130E08FB7DF}"/>
              </a:ext>
            </a:extLst>
          </p:cNvPr>
          <p:cNvPicPr>
            <a:picLocks noChangeAspect="1"/>
          </p:cNvPicPr>
          <p:nvPr/>
        </p:nvPicPr>
        <p:blipFill>
          <a:blip r:embed="rId7"/>
          <a:stretch>
            <a:fillRect/>
          </a:stretch>
        </p:blipFill>
        <p:spPr>
          <a:xfrm>
            <a:off x="990600" y="2349479"/>
            <a:ext cx="8458200" cy="4584721"/>
          </a:xfrm>
          <a:prstGeom prst="rect">
            <a:avLst/>
          </a:prstGeom>
        </p:spPr>
      </p:pic>
    </p:spTree>
    <p:extLst>
      <p:ext uri="{BB962C8B-B14F-4D97-AF65-F5344CB8AC3E}">
        <p14:creationId xmlns:p14="http://schemas.microsoft.com/office/powerpoint/2010/main" val="40492491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3">
            <a:extLst>
              <a:ext uri="{FF2B5EF4-FFF2-40B4-BE49-F238E27FC236}">
                <a16:creationId xmlns:a16="http://schemas.microsoft.com/office/drawing/2014/main" id="{1F487353-0F80-CD7C-539B-D0B739E2508D}"/>
              </a:ext>
            </a:extLst>
          </p:cNvPr>
          <p:cNvPicPr/>
          <p:nvPr/>
        </p:nvPicPr>
        <p:blipFill>
          <a:blip r:embed="rId2" cstate="print"/>
          <a:stretch>
            <a:fillRect/>
          </a:stretch>
        </p:blipFill>
        <p:spPr>
          <a:xfrm>
            <a:off x="290750" y="204311"/>
            <a:ext cx="1163002" cy="424338"/>
          </a:xfrm>
          <a:prstGeom prst="rect">
            <a:avLst/>
          </a:prstGeom>
        </p:spPr>
      </p:pic>
      <p:grpSp>
        <p:nvGrpSpPr>
          <p:cNvPr id="5" name="object 3">
            <a:extLst>
              <a:ext uri="{FF2B5EF4-FFF2-40B4-BE49-F238E27FC236}">
                <a16:creationId xmlns:a16="http://schemas.microsoft.com/office/drawing/2014/main" id="{299C85BD-E605-3459-D399-E1C94363EE63}"/>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5A9D2AFE-FB47-233E-9143-F969B71CD888}"/>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B9DA569B-B7E7-5A85-2587-CEFD4F0DE185}"/>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A64190C4-DD7A-FA5A-C477-FFA3FC440443}"/>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3F9EA43A-C673-81B6-3778-B42DEF1FE1D5}"/>
                </a:ext>
              </a:extLst>
            </p:cNvPr>
            <p:cNvSpPr/>
            <p:nvPr/>
          </p:nvSpPr>
          <p:spPr>
            <a:xfrm>
              <a:off x="2883931" y="243550"/>
              <a:ext cx="4479290" cy="455902"/>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1" name="Text Placeholder 10">
            <a:extLst>
              <a:ext uri="{FF2B5EF4-FFF2-40B4-BE49-F238E27FC236}">
                <a16:creationId xmlns:a16="http://schemas.microsoft.com/office/drawing/2014/main" id="{B50B0617-27EA-6D90-9108-709AD419C234}"/>
              </a:ext>
            </a:extLst>
          </p:cNvPr>
          <p:cNvSpPr>
            <a:spLocks noGrp="1"/>
          </p:cNvSpPr>
          <p:nvPr>
            <p:ph type="body" idx="1"/>
          </p:nvPr>
        </p:nvSpPr>
        <p:spPr>
          <a:xfrm>
            <a:off x="506400" y="1409149"/>
            <a:ext cx="9063843" cy="300082"/>
          </a:xfrm>
        </p:spPr>
        <p:txBody>
          <a:bodyPr/>
          <a:lstStyle/>
          <a:p>
            <a:r>
              <a:rPr lang="en-US" dirty="0"/>
              <a:t> </a:t>
            </a:r>
            <a:endParaRPr lang="en-IN" dirty="0"/>
          </a:p>
        </p:txBody>
      </p:sp>
      <p:sp>
        <p:nvSpPr>
          <p:cNvPr id="13" name="TextBox 12">
            <a:extLst>
              <a:ext uri="{FF2B5EF4-FFF2-40B4-BE49-F238E27FC236}">
                <a16:creationId xmlns:a16="http://schemas.microsoft.com/office/drawing/2014/main" id="{711FBDA2-DC94-B7F6-9A1C-9001B318AD1A}"/>
              </a:ext>
            </a:extLst>
          </p:cNvPr>
          <p:cNvSpPr txBox="1"/>
          <p:nvPr/>
        </p:nvSpPr>
        <p:spPr>
          <a:xfrm>
            <a:off x="3802552" y="390920"/>
            <a:ext cx="5029200" cy="369332"/>
          </a:xfrm>
          <a:prstGeom prst="rect">
            <a:avLst/>
          </a:prstGeom>
          <a:noFill/>
        </p:spPr>
        <p:txBody>
          <a:bodyPr wrap="square">
            <a:spAutoFit/>
          </a:bodyPr>
          <a:lstStyle/>
          <a:p>
            <a:r>
              <a:rPr lang="en-IN" sz="1800" dirty="0">
                <a:solidFill>
                  <a:schemeClr val="bg1"/>
                </a:solidFill>
                <a:latin typeface="Times New Roman" panose="02020603050405020304" pitchFamily="18" charset="0"/>
                <a:cs typeface="Times New Roman" panose="02020603050405020304" pitchFamily="18" charset="0"/>
              </a:rPr>
              <a:t>System Implementation</a:t>
            </a:r>
            <a:endParaRPr lang="en-IN" dirty="0"/>
          </a:p>
        </p:txBody>
      </p:sp>
      <p:sp>
        <p:nvSpPr>
          <p:cNvPr id="14" name="TextBox 13">
            <a:extLst>
              <a:ext uri="{FF2B5EF4-FFF2-40B4-BE49-F238E27FC236}">
                <a16:creationId xmlns:a16="http://schemas.microsoft.com/office/drawing/2014/main" id="{24A45131-0CFE-5A74-B55F-06B50F3F4CBC}"/>
              </a:ext>
            </a:extLst>
          </p:cNvPr>
          <p:cNvSpPr txBox="1"/>
          <p:nvPr/>
        </p:nvSpPr>
        <p:spPr>
          <a:xfrm>
            <a:off x="903846" y="1163951"/>
            <a:ext cx="7630554" cy="646331"/>
          </a:xfrm>
          <a:prstGeom prst="rect">
            <a:avLst/>
          </a:prstGeom>
          <a:noFill/>
        </p:spPr>
        <p:txBody>
          <a:bodyPr wrap="square">
            <a:spAutoFit/>
          </a:bodyPr>
          <a:lstStyle/>
          <a:p>
            <a:pPr>
              <a:buNone/>
            </a:pPr>
            <a:r>
              <a:rPr lang="en-US" b="1" dirty="0"/>
              <a:t>Student View Screen</a:t>
            </a:r>
          </a:p>
          <a:p>
            <a:pPr>
              <a:buNone/>
            </a:pPr>
            <a:r>
              <a:rPr lang="en-US" dirty="0"/>
              <a:t>Students view own attendance with counts and progress indicators.</a:t>
            </a:r>
          </a:p>
        </p:txBody>
      </p:sp>
      <p:pic>
        <p:nvPicPr>
          <p:cNvPr id="17" name="Picture 16">
            <a:extLst>
              <a:ext uri="{FF2B5EF4-FFF2-40B4-BE49-F238E27FC236}">
                <a16:creationId xmlns:a16="http://schemas.microsoft.com/office/drawing/2014/main" id="{869F7473-7DD5-26FC-6FE3-1C13C69F333C}"/>
              </a:ext>
            </a:extLst>
          </p:cNvPr>
          <p:cNvPicPr>
            <a:picLocks noChangeAspect="1"/>
          </p:cNvPicPr>
          <p:nvPr/>
        </p:nvPicPr>
        <p:blipFill>
          <a:blip r:embed="rId6"/>
          <a:stretch>
            <a:fillRect/>
          </a:stretch>
        </p:blipFill>
        <p:spPr>
          <a:xfrm>
            <a:off x="1565776" y="2256230"/>
            <a:ext cx="6077798" cy="3324689"/>
          </a:xfrm>
          <a:prstGeom prst="rect">
            <a:avLst/>
          </a:prstGeom>
        </p:spPr>
      </p:pic>
    </p:spTree>
    <p:extLst>
      <p:ext uri="{BB962C8B-B14F-4D97-AF65-F5344CB8AC3E}">
        <p14:creationId xmlns:p14="http://schemas.microsoft.com/office/powerpoint/2010/main" val="19923526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F26CE8D-05C1-6F32-8A92-20C9491B21F9}"/>
              </a:ext>
            </a:extLst>
          </p:cNvPr>
          <p:cNvSpPr>
            <a:spLocks noGrp="1"/>
          </p:cNvSpPr>
          <p:nvPr>
            <p:ph type="body" idx="1"/>
          </p:nvPr>
        </p:nvSpPr>
        <p:spPr>
          <a:xfrm>
            <a:off x="323701" y="1826449"/>
            <a:ext cx="8949055" cy="856645"/>
          </a:xfrm>
        </p:spPr>
        <p:txBody>
          <a:bodyPr/>
          <a:lstStyle/>
          <a:p>
            <a:pPr marL="12700">
              <a:lnSpc>
                <a:spcPct val="100000"/>
              </a:lnSpc>
              <a:spcBef>
                <a:spcPts val="100"/>
              </a:spcBef>
            </a:pPr>
            <a:endParaRPr lang="en-US" sz="1800" b="0" dirty="0"/>
          </a:p>
          <a:p>
            <a:pPr marL="12700">
              <a:lnSpc>
                <a:spcPct val="100000"/>
              </a:lnSpc>
              <a:spcBef>
                <a:spcPts val="100"/>
              </a:spcBef>
            </a:pPr>
            <a:endParaRPr lang="en-US" sz="1800" b="0" dirty="0"/>
          </a:p>
          <a:p>
            <a:pPr marL="12700">
              <a:lnSpc>
                <a:spcPct val="100000"/>
              </a:lnSpc>
              <a:spcBef>
                <a:spcPts val="100"/>
              </a:spcBef>
            </a:pPr>
            <a:endParaRPr lang="en-US" sz="1800" b="0" dirty="0">
              <a:latin typeface="Times New Roman"/>
              <a:cs typeface="Times New Roman"/>
            </a:endParaRPr>
          </a:p>
        </p:txBody>
      </p:sp>
      <p:pic>
        <p:nvPicPr>
          <p:cNvPr id="4" name="object 3">
            <a:extLst>
              <a:ext uri="{FF2B5EF4-FFF2-40B4-BE49-F238E27FC236}">
                <a16:creationId xmlns:a16="http://schemas.microsoft.com/office/drawing/2014/main" id="{C4C517DC-EC1F-9FB6-4B2E-C5134E513115}"/>
              </a:ext>
            </a:extLst>
          </p:cNvPr>
          <p:cNvPicPr/>
          <p:nvPr/>
        </p:nvPicPr>
        <p:blipFill>
          <a:blip r:embed="rId2" cstate="print"/>
          <a:stretch>
            <a:fillRect/>
          </a:stretch>
        </p:blipFill>
        <p:spPr>
          <a:xfrm>
            <a:off x="290750" y="204311"/>
            <a:ext cx="1163002" cy="424338"/>
          </a:xfrm>
          <a:prstGeom prst="rect">
            <a:avLst/>
          </a:prstGeom>
        </p:spPr>
      </p:pic>
      <p:grpSp>
        <p:nvGrpSpPr>
          <p:cNvPr id="10" name="object 3">
            <a:extLst>
              <a:ext uri="{FF2B5EF4-FFF2-40B4-BE49-F238E27FC236}">
                <a16:creationId xmlns:a16="http://schemas.microsoft.com/office/drawing/2014/main" id="{0F7B972D-7090-AA34-13CC-0733DAAF53A7}"/>
              </a:ext>
            </a:extLst>
          </p:cNvPr>
          <p:cNvGrpSpPr/>
          <p:nvPr/>
        </p:nvGrpSpPr>
        <p:grpSpPr>
          <a:xfrm>
            <a:off x="2667000" y="0"/>
            <a:ext cx="5103904" cy="1198311"/>
            <a:chOff x="2648188" y="47148"/>
            <a:chExt cx="5103904" cy="1198311"/>
          </a:xfrm>
        </p:grpSpPr>
        <p:pic>
          <p:nvPicPr>
            <p:cNvPr id="11" name="object 4">
              <a:extLst>
                <a:ext uri="{FF2B5EF4-FFF2-40B4-BE49-F238E27FC236}">
                  <a16:creationId xmlns:a16="http://schemas.microsoft.com/office/drawing/2014/main" id="{2514564E-4C7E-368F-0006-3C0D45A0484D}"/>
                </a:ext>
              </a:extLst>
            </p:cNvPr>
            <p:cNvPicPr/>
            <p:nvPr/>
          </p:nvPicPr>
          <p:blipFill>
            <a:blip r:embed="rId3" cstate="print"/>
            <a:stretch>
              <a:fillRect/>
            </a:stretch>
          </p:blipFill>
          <p:spPr>
            <a:xfrm>
              <a:off x="2648188" y="47148"/>
              <a:ext cx="5103904" cy="1198311"/>
            </a:xfrm>
            <a:prstGeom prst="rect">
              <a:avLst/>
            </a:prstGeom>
          </p:spPr>
        </p:pic>
        <p:pic>
          <p:nvPicPr>
            <p:cNvPr id="12" name="object 5">
              <a:extLst>
                <a:ext uri="{FF2B5EF4-FFF2-40B4-BE49-F238E27FC236}">
                  <a16:creationId xmlns:a16="http://schemas.microsoft.com/office/drawing/2014/main" id="{681D9B67-A28E-537A-5494-851640EE608D}"/>
                </a:ext>
              </a:extLst>
            </p:cNvPr>
            <p:cNvPicPr/>
            <p:nvPr/>
          </p:nvPicPr>
          <p:blipFill>
            <a:blip r:embed="rId4" cstate="print"/>
            <a:stretch>
              <a:fillRect/>
            </a:stretch>
          </p:blipFill>
          <p:spPr>
            <a:xfrm>
              <a:off x="2703195" y="86439"/>
              <a:ext cx="4997767" cy="1092279"/>
            </a:xfrm>
            <a:prstGeom prst="rect">
              <a:avLst/>
            </a:prstGeom>
          </p:spPr>
        </p:pic>
        <p:pic>
          <p:nvPicPr>
            <p:cNvPr id="13" name="object 6">
              <a:extLst>
                <a:ext uri="{FF2B5EF4-FFF2-40B4-BE49-F238E27FC236}">
                  <a16:creationId xmlns:a16="http://schemas.microsoft.com/office/drawing/2014/main" id="{A5ABDBD0-B525-5248-2DEB-165A9EE8AD1C}"/>
                </a:ext>
              </a:extLst>
            </p:cNvPr>
            <p:cNvPicPr/>
            <p:nvPr/>
          </p:nvPicPr>
          <p:blipFill>
            <a:blip r:embed="rId5" cstate="print"/>
            <a:stretch>
              <a:fillRect/>
            </a:stretch>
          </p:blipFill>
          <p:spPr>
            <a:xfrm>
              <a:off x="2828925" y="243549"/>
              <a:ext cx="4585268" cy="522565"/>
            </a:xfrm>
            <a:prstGeom prst="rect">
              <a:avLst/>
            </a:prstGeom>
          </p:spPr>
        </p:pic>
        <p:sp>
          <p:nvSpPr>
            <p:cNvPr id="14" name="object 7">
              <a:extLst>
                <a:ext uri="{FF2B5EF4-FFF2-40B4-BE49-F238E27FC236}">
                  <a16:creationId xmlns:a16="http://schemas.microsoft.com/office/drawing/2014/main" id="{517224FF-3AFC-ECC3-B1EE-68BF7C972E30}"/>
                </a:ext>
              </a:extLst>
            </p:cNvPr>
            <p:cNvSpPr/>
            <p:nvPr/>
          </p:nvSpPr>
          <p:spPr>
            <a:xfrm>
              <a:off x="2883931" y="243550"/>
              <a:ext cx="4479290" cy="455902"/>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6" name="TextBox 5">
            <a:extLst>
              <a:ext uri="{FF2B5EF4-FFF2-40B4-BE49-F238E27FC236}">
                <a16:creationId xmlns:a16="http://schemas.microsoft.com/office/drawing/2014/main" id="{F0C80077-DAB5-8112-E49B-19889DEB3A72}"/>
              </a:ext>
            </a:extLst>
          </p:cNvPr>
          <p:cNvSpPr txBox="1"/>
          <p:nvPr/>
        </p:nvSpPr>
        <p:spPr>
          <a:xfrm>
            <a:off x="3810000" y="221073"/>
            <a:ext cx="5029200" cy="369332"/>
          </a:xfrm>
          <a:prstGeom prst="rect">
            <a:avLst/>
          </a:prstGeom>
          <a:noFill/>
        </p:spPr>
        <p:txBody>
          <a:bodyPr wrap="square">
            <a:spAutoFit/>
          </a:bodyPr>
          <a:lstStyle/>
          <a:p>
            <a:r>
              <a:rPr lang="en-IN" sz="1800" dirty="0">
                <a:solidFill>
                  <a:schemeClr val="bg1"/>
                </a:solidFill>
                <a:latin typeface="Times New Roman" panose="02020603050405020304" pitchFamily="18" charset="0"/>
                <a:cs typeface="Times New Roman" panose="02020603050405020304" pitchFamily="18" charset="0"/>
              </a:rPr>
              <a:t>System Implementation</a:t>
            </a:r>
            <a:endParaRPr lang="en-IN" dirty="0"/>
          </a:p>
        </p:txBody>
      </p:sp>
      <p:sp>
        <p:nvSpPr>
          <p:cNvPr id="15" name="TextBox 14">
            <a:extLst>
              <a:ext uri="{FF2B5EF4-FFF2-40B4-BE49-F238E27FC236}">
                <a16:creationId xmlns:a16="http://schemas.microsoft.com/office/drawing/2014/main" id="{5AD70F04-D37B-771D-10E1-DC6DFF7AEDBE}"/>
              </a:ext>
            </a:extLst>
          </p:cNvPr>
          <p:cNvSpPr txBox="1"/>
          <p:nvPr/>
        </p:nvSpPr>
        <p:spPr>
          <a:xfrm>
            <a:off x="761252" y="1201816"/>
            <a:ext cx="8154148" cy="646331"/>
          </a:xfrm>
          <a:prstGeom prst="rect">
            <a:avLst/>
          </a:prstGeom>
          <a:noFill/>
        </p:spPr>
        <p:txBody>
          <a:bodyPr wrap="square">
            <a:spAutoFit/>
          </a:bodyPr>
          <a:lstStyle/>
          <a:p>
            <a:pPr>
              <a:buNone/>
            </a:pPr>
            <a:r>
              <a:rPr lang="en-US" b="1" dirty="0"/>
              <a:t>User Management Screen</a:t>
            </a:r>
          </a:p>
          <a:p>
            <a:pPr>
              <a:buNone/>
            </a:pPr>
            <a:r>
              <a:rPr lang="en-US" dirty="0"/>
              <a:t>Admin can add, edit, delete students and faculty with search-enabled tables.</a:t>
            </a:r>
          </a:p>
        </p:txBody>
      </p:sp>
      <p:pic>
        <p:nvPicPr>
          <p:cNvPr id="18" name="Picture 17">
            <a:extLst>
              <a:ext uri="{FF2B5EF4-FFF2-40B4-BE49-F238E27FC236}">
                <a16:creationId xmlns:a16="http://schemas.microsoft.com/office/drawing/2014/main" id="{B4D53329-0C74-1FE3-0C92-906F5194C2D5}"/>
              </a:ext>
            </a:extLst>
          </p:cNvPr>
          <p:cNvPicPr>
            <a:picLocks noChangeAspect="1"/>
          </p:cNvPicPr>
          <p:nvPr/>
        </p:nvPicPr>
        <p:blipFill>
          <a:blip r:embed="rId6"/>
          <a:stretch>
            <a:fillRect/>
          </a:stretch>
        </p:blipFill>
        <p:spPr>
          <a:xfrm>
            <a:off x="1189835" y="2282649"/>
            <a:ext cx="6592220" cy="3286584"/>
          </a:xfrm>
          <a:prstGeom prst="rect">
            <a:avLst/>
          </a:prstGeom>
        </p:spPr>
      </p:pic>
    </p:spTree>
    <p:extLst>
      <p:ext uri="{BB962C8B-B14F-4D97-AF65-F5344CB8AC3E}">
        <p14:creationId xmlns:p14="http://schemas.microsoft.com/office/powerpoint/2010/main" val="28611323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66B15-FBBA-88E4-439B-3760D86B920E}"/>
            </a:ext>
          </a:extLst>
        </p:cNvPr>
        <p:cNvGrpSpPr/>
        <p:nvPr/>
      </p:nvGrpSpPr>
      <p:grpSpPr>
        <a:xfrm>
          <a:off x="0" y="0"/>
          <a:ext cx="0" cy="0"/>
          <a:chOff x="0" y="0"/>
          <a:chExt cx="0" cy="0"/>
        </a:xfrm>
      </p:grpSpPr>
      <p:grpSp>
        <p:nvGrpSpPr>
          <p:cNvPr id="7" name="object 3">
            <a:extLst>
              <a:ext uri="{FF2B5EF4-FFF2-40B4-BE49-F238E27FC236}">
                <a16:creationId xmlns:a16="http://schemas.microsoft.com/office/drawing/2014/main" id="{2AA4C980-B3A7-207C-41C1-E5E20AC1774F}"/>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FCE0C84F-6254-D24F-D561-30DE987BE354}"/>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7909B96B-5C39-8043-CA2D-5B828EFA7574}"/>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C5015D36-BC2F-3B81-753E-F473E84B785D}"/>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F2E63626-00F9-C9BD-F925-C51513AE50EF}"/>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D4D54D4E-EE1A-E311-1FB3-DF54075DFCDF}"/>
              </a:ext>
            </a:extLst>
          </p:cNvPr>
          <p:cNvSpPr txBox="1">
            <a:spLocks noGrp="1"/>
          </p:cNvSpPr>
          <p:nvPr>
            <p:ph type="title"/>
          </p:nvPr>
        </p:nvSpPr>
        <p:spPr>
          <a:xfrm>
            <a:off x="3649027" y="438046"/>
            <a:ext cx="27603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Future Enhancements</a:t>
            </a:r>
          </a:p>
        </p:txBody>
      </p:sp>
      <p:pic>
        <p:nvPicPr>
          <p:cNvPr id="13" name="object 3">
            <a:extLst>
              <a:ext uri="{FF2B5EF4-FFF2-40B4-BE49-F238E27FC236}">
                <a16:creationId xmlns:a16="http://schemas.microsoft.com/office/drawing/2014/main" id="{A2987431-337A-DB3D-5560-70B732DBEDE6}"/>
              </a:ext>
            </a:extLst>
          </p:cNvPr>
          <p:cNvPicPr/>
          <p:nvPr/>
        </p:nvPicPr>
        <p:blipFill>
          <a:blip r:embed="rId5" cstate="print"/>
          <a:stretch>
            <a:fillRect/>
          </a:stretch>
        </p:blipFill>
        <p:spPr>
          <a:xfrm>
            <a:off x="290750" y="204311"/>
            <a:ext cx="1163002" cy="424338"/>
          </a:xfrm>
          <a:prstGeom prst="rect">
            <a:avLst/>
          </a:prstGeom>
        </p:spPr>
      </p:pic>
      <p:sp>
        <p:nvSpPr>
          <p:cNvPr id="4" name="TextBox 3">
            <a:extLst>
              <a:ext uri="{FF2B5EF4-FFF2-40B4-BE49-F238E27FC236}">
                <a16:creationId xmlns:a16="http://schemas.microsoft.com/office/drawing/2014/main" id="{92F6B99B-2224-C9EB-5052-2D93E6EC93C5}"/>
              </a:ext>
            </a:extLst>
          </p:cNvPr>
          <p:cNvSpPr txBox="1"/>
          <p:nvPr/>
        </p:nvSpPr>
        <p:spPr>
          <a:xfrm>
            <a:off x="990600" y="1323261"/>
            <a:ext cx="7391400" cy="4992392"/>
          </a:xfrm>
          <a:prstGeom prst="rect">
            <a:avLst/>
          </a:prstGeom>
          <a:noFill/>
        </p:spPr>
        <p:txBody>
          <a:bodyPr wrap="square">
            <a:spAutoFit/>
          </a:bodyPr>
          <a:lstStyle/>
          <a:p>
            <a:pPr>
              <a:lnSpc>
                <a:spcPct val="200000"/>
              </a:lnSpc>
              <a:buNone/>
            </a:pPr>
            <a:r>
              <a:rPr lang="en-IN" b="1" dirty="0"/>
              <a:t>6. FUTURE ENHANCEMENTS</a:t>
            </a:r>
          </a:p>
          <a:p>
            <a:pPr>
              <a:lnSpc>
                <a:spcPct val="200000"/>
              </a:lnSpc>
              <a:buFont typeface="Arial" panose="020B0604020202020204" pitchFamily="34" charset="0"/>
              <a:buChar char="•"/>
            </a:pPr>
            <a:r>
              <a:rPr lang="en-IN" b="1" dirty="0"/>
              <a:t>Biometric Integration</a:t>
            </a:r>
            <a:r>
              <a:rPr lang="en-IN" dirty="0"/>
              <a:t> (Fingerprint/Face recognition) </a:t>
            </a:r>
          </a:p>
          <a:p>
            <a:pPr>
              <a:lnSpc>
                <a:spcPct val="200000"/>
              </a:lnSpc>
              <a:buFont typeface="Arial" panose="020B0604020202020204" pitchFamily="34" charset="0"/>
              <a:buChar char="•"/>
            </a:pPr>
            <a:r>
              <a:rPr lang="en-IN" b="1" dirty="0"/>
              <a:t>QR Code Attendance</a:t>
            </a:r>
            <a:r>
              <a:rPr lang="en-IN" dirty="0"/>
              <a:t> </a:t>
            </a:r>
          </a:p>
          <a:p>
            <a:pPr>
              <a:lnSpc>
                <a:spcPct val="200000"/>
              </a:lnSpc>
              <a:buFont typeface="Arial" panose="020B0604020202020204" pitchFamily="34" charset="0"/>
              <a:buChar char="•"/>
            </a:pPr>
            <a:r>
              <a:rPr lang="en-IN" b="1" dirty="0"/>
              <a:t>Mobile App</a:t>
            </a:r>
            <a:r>
              <a:rPr lang="en-IN" dirty="0"/>
              <a:t> for Android/iOS </a:t>
            </a:r>
          </a:p>
          <a:p>
            <a:pPr>
              <a:lnSpc>
                <a:spcPct val="200000"/>
              </a:lnSpc>
              <a:buFont typeface="Arial" panose="020B0604020202020204" pitchFamily="34" charset="0"/>
              <a:buChar char="•"/>
            </a:pPr>
            <a:r>
              <a:rPr lang="en-IN" b="1" dirty="0"/>
              <a:t>Email/SMS Alerts</a:t>
            </a:r>
            <a:r>
              <a:rPr lang="en-IN" dirty="0"/>
              <a:t> for low attendance </a:t>
            </a:r>
          </a:p>
          <a:p>
            <a:pPr>
              <a:lnSpc>
                <a:spcPct val="200000"/>
              </a:lnSpc>
              <a:buFont typeface="Arial" panose="020B0604020202020204" pitchFamily="34" charset="0"/>
              <a:buChar char="•"/>
            </a:pPr>
            <a:r>
              <a:rPr lang="en-IN" b="1" dirty="0"/>
              <a:t>Advanced Analytics Dashboard</a:t>
            </a:r>
            <a:r>
              <a:rPr lang="en-IN" dirty="0"/>
              <a:t> </a:t>
            </a:r>
          </a:p>
          <a:p>
            <a:pPr>
              <a:lnSpc>
                <a:spcPct val="200000"/>
              </a:lnSpc>
              <a:buFont typeface="Arial" panose="020B0604020202020204" pitchFamily="34" charset="0"/>
              <a:buChar char="•"/>
            </a:pPr>
            <a:r>
              <a:rPr lang="en-IN" b="1" dirty="0"/>
              <a:t>Timetable Integration</a:t>
            </a:r>
            <a:r>
              <a:rPr lang="en-IN" dirty="0"/>
              <a:t> </a:t>
            </a:r>
          </a:p>
          <a:p>
            <a:pPr>
              <a:lnSpc>
                <a:spcPct val="200000"/>
              </a:lnSpc>
              <a:buFont typeface="Arial" panose="020B0604020202020204" pitchFamily="34" charset="0"/>
              <a:buChar char="•"/>
            </a:pPr>
            <a:r>
              <a:rPr lang="en-IN" b="1" dirty="0"/>
              <a:t>Leave Management System</a:t>
            </a:r>
            <a:r>
              <a:rPr lang="en-IN" dirty="0"/>
              <a:t> </a:t>
            </a:r>
          </a:p>
          <a:p>
            <a:pPr>
              <a:lnSpc>
                <a:spcPct val="200000"/>
              </a:lnSpc>
              <a:buFont typeface="Arial" panose="020B0604020202020204" pitchFamily="34" charset="0"/>
              <a:buChar char="•"/>
            </a:pPr>
            <a:r>
              <a:rPr lang="en-IN" b="1" dirty="0"/>
              <a:t>Bulk Import/Export</a:t>
            </a:r>
            <a:r>
              <a:rPr lang="en-IN" dirty="0"/>
              <a:t> of student &amp; attendance data</a:t>
            </a:r>
          </a:p>
        </p:txBody>
      </p:sp>
    </p:spTree>
    <p:extLst>
      <p:ext uri="{BB962C8B-B14F-4D97-AF65-F5344CB8AC3E}">
        <p14:creationId xmlns:p14="http://schemas.microsoft.com/office/powerpoint/2010/main" val="12187896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02E41-7E6E-9AB7-4311-D58503EE4565}"/>
            </a:ext>
          </a:extLst>
        </p:cNvPr>
        <p:cNvGrpSpPr/>
        <p:nvPr/>
      </p:nvGrpSpPr>
      <p:grpSpPr>
        <a:xfrm>
          <a:off x="0" y="0"/>
          <a:ext cx="0" cy="0"/>
          <a:chOff x="0" y="0"/>
          <a:chExt cx="0" cy="0"/>
        </a:xfrm>
      </p:grpSpPr>
      <p:grpSp>
        <p:nvGrpSpPr>
          <p:cNvPr id="7" name="object 3">
            <a:extLst>
              <a:ext uri="{FF2B5EF4-FFF2-40B4-BE49-F238E27FC236}">
                <a16:creationId xmlns:a16="http://schemas.microsoft.com/office/drawing/2014/main" id="{32D71BC4-812B-11BE-6A6C-1CA5A91B779D}"/>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6897A887-118D-142E-FC3E-D6BE5C1E9795}"/>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A69A73B6-BAAC-6763-2263-E88C0E65C7C3}"/>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B12E086F-BA20-7EBA-DFAA-D7884D2F86C0}"/>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CD22B9F6-01CA-54BB-97B5-0180CEF24C6E}"/>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E459A9DA-9776-0281-AD94-A452E7257896}"/>
              </a:ext>
            </a:extLst>
          </p:cNvPr>
          <p:cNvSpPr txBox="1">
            <a:spLocks noGrp="1"/>
          </p:cNvSpPr>
          <p:nvPr>
            <p:ph type="title"/>
          </p:nvPr>
        </p:nvSpPr>
        <p:spPr>
          <a:xfrm>
            <a:off x="4194015" y="429568"/>
            <a:ext cx="27603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References</a:t>
            </a:r>
          </a:p>
        </p:txBody>
      </p:sp>
      <p:pic>
        <p:nvPicPr>
          <p:cNvPr id="13" name="object 3">
            <a:extLst>
              <a:ext uri="{FF2B5EF4-FFF2-40B4-BE49-F238E27FC236}">
                <a16:creationId xmlns:a16="http://schemas.microsoft.com/office/drawing/2014/main" id="{6E0266AA-A7A6-E24C-77B4-437EA2766279}"/>
              </a:ext>
            </a:extLst>
          </p:cNvPr>
          <p:cNvPicPr/>
          <p:nvPr/>
        </p:nvPicPr>
        <p:blipFill>
          <a:blip r:embed="rId5" cstate="print"/>
          <a:stretch>
            <a:fillRect/>
          </a:stretch>
        </p:blipFill>
        <p:spPr>
          <a:xfrm>
            <a:off x="290750" y="204311"/>
            <a:ext cx="1163002" cy="424338"/>
          </a:xfrm>
          <a:prstGeom prst="rect">
            <a:avLst/>
          </a:prstGeom>
        </p:spPr>
      </p:pic>
      <p:sp>
        <p:nvSpPr>
          <p:cNvPr id="4" name="TextBox 3">
            <a:extLst>
              <a:ext uri="{FF2B5EF4-FFF2-40B4-BE49-F238E27FC236}">
                <a16:creationId xmlns:a16="http://schemas.microsoft.com/office/drawing/2014/main" id="{1B8A2C2E-A55A-9D0D-7582-33A68B03339F}"/>
              </a:ext>
            </a:extLst>
          </p:cNvPr>
          <p:cNvSpPr txBox="1"/>
          <p:nvPr/>
        </p:nvSpPr>
        <p:spPr>
          <a:xfrm>
            <a:off x="1295400" y="1408587"/>
            <a:ext cx="4953000" cy="4438395"/>
          </a:xfrm>
          <a:prstGeom prst="rect">
            <a:avLst/>
          </a:prstGeom>
          <a:noFill/>
        </p:spPr>
        <p:txBody>
          <a:bodyPr wrap="square">
            <a:spAutoFit/>
          </a:bodyPr>
          <a:lstStyle/>
          <a:p>
            <a:pPr>
              <a:lnSpc>
                <a:spcPct val="200000"/>
              </a:lnSpc>
              <a:buNone/>
            </a:pPr>
            <a:r>
              <a:rPr lang="en-IN" b="1" dirty="0"/>
              <a:t>7. REFERENCES</a:t>
            </a:r>
          </a:p>
          <a:p>
            <a:pPr>
              <a:lnSpc>
                <a:spcPct val="200000"/>
              </a:lnSpc>
              <a:buFont typeface="+mj-lt"/>
              <a:buAutoNum type="arabicPeriod"/>
            </a:pPr>
            <a:r>
              <a:rPr lang="en-IN" dirty="0"/>
              <a:t>React Documentation – </a:t>
            </a:r>
            <a:r>
              <a:rPr lang="en-IN" i="1" dirty="0"/>
              <a:t>reactjs.org</a:t>
            </a:r>
            <a:r>
              <a:rPr lang="en-IN" dirty="0"/>
              <a:t> </a:t>
            </a:r>
          </a:p>
          <a:p>
            <a:pPr>
              <a:lnSpc>
                <a:spcPct val="200000"/>
              </a:lnSpc>
              <a:buFont typeface="+mj-lt"/>
              <a:buAutoNum type="arabicPeriod"/>
            </a:pPr>
            <a:r>
              <a:rPr lang="en-IN" dirty="0"/>
              <a:t>Node.js Documentation – </a:t>
            </a:r>
            <a:r>
              <a:rPr lang="en-IN" i="1" dirty="0"/>
              <a:t>nodejs.org</a:t>
            </a:r>
            <a:r>
              <a:rPr lang="en-IN" dirty="0"/>
              <a:t> </a:t>
            </a:r>
          </a:p>
          <a:p>
            <a:pPr>
              <a:lnSpc>
                <a:spcPct val="200000"/>
              </a:lnSpc>
              <a:buFont typeface="+mj-lt"/>
              <a:buAutoNum type="arabicPeriod"/>
            </a:pPr>
            <a:r>
              <a:rPr lang="en-IN" dirty="0"/>
              <a:t>Express.js Documentation – </a:t>
            </a:r>
            <a:r>
              <a:rPr lang="en-IN" i="1" dirty="0"/>
              <a:t>expressjs.com</a:t>
            </a:r>
            <a:r>
              <a:rPr lang="en-IN" dirty="0"/>
              <a:t> </a:t>
            </a:r>
          </a:p>
          <a:p>
            <a:pPr>
              <a:lnSpc>
                <a:spcPct val="200000"/>
              </a:lnSpc>
              <a:buFont typeface="+mj-lt"/>
              <a:buAutoNum type="arabicPeriod"/>
            </a:pPr>
            <a:r>
              <a:rPr lang="en-IN" dirty="0"/>
              <a:t>MongoDB Documentation – </a:t>
            </a:r>
            <a:r>
              <a:rPr lang="en-IN" i="1" dirty="0"/>
              <a:t>mongodb.com</a:t>
            </a:r>
            <a:r>
              <a:rPr lang="en-IN" dirty="0"/>
              <a:t> </a:t>
            </a:r>
          </a:p>
          <a:p>
            <a:pPr>
              <a:lnSpc>
                <a:spcPct val="200000"/>
              </a:lnSpc>
              <a:buFont typeface="+mj-lt"/>
              <a:buAutoNum type="arabicPeriod"/>
            </a:pPr>
            <a:r>
              <a:rPr lang="en-IN" dirty="0"/>
              <a:t>Tailwind CSS – </a:t>
            </a:r>
            <a:r>
              <a:rPr lang="en-IN" i="1" dirty="0"/>
              <a:t>tailwindcss.com</a:t>
            </a:r>
            <a:r>
              <a:rPr lang="en-IN" dirty="0"/>
              <a:t> </a:t>
            </a:r>
          </a:p>
          <a:p>
            <a:pPr>
              <a:lnSpc>
                <a:spcPct val="200000"/>
              </a:lnSpc>
              <a:buFont typeface="+mj-lt"/>
              <a:buAutoNum type="arabicPeriod"/>
            </a:pPr>
            <a:r>
              <a:rPr lang="en-IN" dirty="0"/>
              <a:t>JSON Web Token – </a:t>
            </a:r>
            <a:r>
              <a:rPr lang="en-IN" i="1" dirty="0"/>
              <a:t>jwt.io</a:t>
            </a:r>
            <a:r>
              <a:rPr lang="en-IN" dirty="0"/>
              <a:t> </a:t>
            </a:r>
          </a:p>
          <a:p>
            <a:pPr>
              <a:lnSpc>
                <a:spcPct val="200000"/>
              </a:lnSpc>
              <a:buFont typeface="+mj-lt"/>
              <a:buAutoNum type="arabicPeriod"/>
            </a:pPr>
            <a:r>
              <a:rPr lang="en-IN" dirty="0" err="1"/>
              <a:t>GeeksforGeeks</a:t>
            </a:r>
            <a:r>
              <a:rPr lang="en-IN" dirty="0"/>
              <a:t> MERN Stack Tutorial</a:t>
            </a:r>
          </a:p>
        </p:txBody>
      </p:sp>
    </p:spTree>
    <p:extLst>
      <p:ext uri="{BB962C8B-B14F-4D97-AF65-F5344CB8AC3E}">
        <p14:creationId xmlns:p14="http://schemas.microsoft.com/office/powerpoint/2010/main" val="21820207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object 3">
            <a:extLst>
              <a:ext uri="{FF2B5EF4-FFF2-40B4-BE49-F238E27FC236}">
                <a16:creationId xmlns:a16="http://schemas.microsoft.com/office/drawing/2014/main" id="{20B8B724-A73F-F006-222B-6A4FF27EB83E}"/>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8D96FE08-6C48-29F6-B8BF-733A1FE4EFC2}"/>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F663E0BF-F2C3-9990-10F0-85152F3B7499}"/>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AF92C391-8A67-101D-C7DE-D42721562E91}"/>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5C67209A-2109-EE49-1C12-165FDE2056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F513CBE2-66AF-A982-0CC5-B24C79BA9503}"/>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CONCLUSION</a:t>
            </a:r>
          </a:p>
        </p:txBody>
      </p:sp>
      <p:pic>
        <p:nvPicPr>
          <p:cNvPr id="13" name="object 3">
            <a:extLst>
              <a:ext uri="{FF2B5EF4-FFF2-40B4-BE49-F238E27FC236}">
                <a16:creationId xmlns:a16="http://schemas.microsoft.com/office/drawing/2014/main" id="{A2CEDFE4-2383-831F-CDEE-1CF3B0215E16}"/>
              </a:ext>
            </a:extLst>
          </p:cNvPr>
          <p:cNvPicPr/>
          <p:nvPr/>
        </p:nvPicPr>
        <p:blipFill>
          <a:blip r:embed="rId5"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E1596AC4-5C12-3585-B472-11B57492122B}"/>
              </a:ext>
            </a:extLst>
          </p:cNvPr>
          <p:cNvSpPr txBox="1"/>
          <p:nvPr/>
        </p:nvSpPr>
        <p:spPr>
          <a:xfrm>
            <a:off x="1140619" y="1315891"/>
            <a:ext cx="7620000" cy="5442516"/>
          </a:xfrm>
          <a:prstGeom prst="rect">
            <a:avLst/>
          </a:prstGeom>
          <a:noFill/>
        </p:spPr>
        <p:txBody>
          <a:bodyPr wrap="square">
            <a:spAutoFit/>
          </a:bodyPr>
          <a:lstStyle/>
          <a:p>
            <a:pPr>
              <a:lnSpc>
                <a:spcPct val="150000"/>
              </a:lnSpc>
            </a:pPr>
            <a:r>
              <a:rPr lang="en-US" b="1" dirty="0"/>
              <a:t>8. CONCLUSION</a:t>
            </a:r>
          </a:p>
          <a:p>
            <a:pPr marL="285750" indent="-285750">
              <a:lnSpc>
                <a:spcPct val="150000"/>
              </a:lnSpc>
              <a:buFont typeface="Arial" panose="020B0604020202020204" pitchFamily="34" charset="0"/>
              <a:buChar char="•"/>
            </a:pPr>
            <a:r>
              <a:rPr lang="en-US" dirty="0"/>
              <a:t>The Student Attendance Monitoring System provides an efficient digital solution to automate attendance processes in educational institutions. It enhances accuracy, reduces manual effort, and provides real-time analytics for students, faculty, and administrators.</a:t>
            </a:r>
          </a:p>
          <a:p>
            <a:pPr marL="285750" indent="-285750">
              <a:lnSpc>
                <a:spcPct val="150000"/>
              </a:lnSpc>
              <a:buFont typeface="Arial" panose="020B0604020202020204" pitchFamily="34" charset="0"/>
              <a:buChar char="•"/>
            </a:pPr>
            <a:r>
              <a:rPr lang="en-US" dirty="0"/>
              <a:t>The system meets all its objectives by offering secure authentication, easy attendance marking, detailed reports, and user-friendly dashboards. With modern technologies like React, Node.js, and MongoDB, the system ensures scalability, reliability, and strong data integrity.</a:t>
            </a:r>
          </a:p>
          <a:p>
            <a:pPr marL="285750" indent="-285750">
              <a:lnSpc>
                <a:spcPct val="150000"/>
              </a:lnSpc>
              <a:buFont typeface="Arial" panose="020B0604020202020204" pitchFamily="34" charset="0"/>
              <a:buChar char="•"/>
            </a:pPr>
            <a:r>
              <a:rPr lang="en-US" dirty="0"/>
              <a:t>Future enhancements like biometric integration and mobile app support can make the system even more powerful and adaptable for large-scale deployment.</a:t>
            </a:r>
          </a:p>
        </p:txBody>
      </p:sp>
    </p:spTree>
    <p:extLst>
      <p:ext uri="{BB962C8B-B14F-4D97-AF65-F5344CB8AC3E}">
        <p14:creationId xmlns:p14="http://schemas.microsoft.com/office/powerpoint/2010/main" val="26941927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5B32A-9B14-7FA0-D59B-AF32355B7813}"/>
              </a:ext>
            </a:extLst>
          </p:cNvPr>
          <p:cNvSpPr>
            <a:spLocks noGrp="1"/>
          </p:cNvSpPr>
          <p:nvPr>
            <p:ph type="ctrTitle"/>
          </p:nvPr>
        </p:nvSpPr>
        <p:spPr>
          <a:xfrm>
            <a:off x="3200400" y="3352800"/>
            <a:ext cx="4038600" cy="738664"/>
          </a:xfrm>
        </p:spPr>
        <p:txBody>
          <a:bodyPr/>
          <a:lstStyle/>
          <a:p>
            <a:r>
              <a:rPr lang="en-IN" sz="4800" dirty="0">
                <a:solidFill>
                  <a:schemeClr val="accent6">
                    <a:lumMod val="75000"/>
                  </a:schemeClr>
                </a:solidFill>
              </a:rPr>
              <a:t>THANK YOU</a:t>
            </a:r>
          </a:p>
        </p:txBody>
      </p:sp>
      <p:pic>
        <p:nvPicPr>
          <p:cNvPr id="4" name="object 3">
            <a:extLst>
              <a:ext uri="{FF2B5EF4-FFF2-40B4-BE49-F238E27FC236}">
                <a16:creationId xmlns:a16="http://schemas.microsoft.com/office/drawing/2014/main" id="{82A927C3-140A-7ABC-91C2-249562DF33FB}"/>
              </a:ext>
            </a:extLst>
          </p:cNvPr>
          <p:cNvPicPr/>
          <p:nvPr/>
        </p:nvPicPr>
        <p:blipFill>
          <a:blip r:embed="rId2"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746778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3536</TotalTime>
  <Words>1113</Words>
  <Application>Microsoft Office PowerPoint</Application>
  <PresentationFormat>Custom</PresentationFormat>
  <Paragraphs>189</Paragraphs>
  <Slides>21</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Aptos Narrow</vt:lpstr>
      <vt:lpstr>Arial</vt:lpstr>
      <vt:lpstr>Calibri</vt:lpstr>
      <vt:lpstr>Cambria</vt:lpstr>
      <vt:lpstr>Palatino Linotype</vt:lpstr>
      <vt:lpstr>Times New Roman</vt:lpstr>
      <vt:lpstr>Office Theme</vt:lpstr>
      <vt:lpstr>Advance Mern Stack Development Cornerstone Project Final Review</vt:lpstr>
      <vt:lpstr>PowerPoint Presentation</vt:lpstr>
      <vt:lpstr>ABSTRACT</vt:lpstr>
      <vt:lpstr>PowerPoint Presentation</vt:lpstr>
      <vt:lpstr>PowerPoint Presentation</vt:lpstr>
      <vt:lpstr>PowerPoint Presentation</vt:lpstr>
      <vt:lpstr>PowerPoint Presentation</vt:lpstr>
      <vt:lpstr>Database Design</vt:lpstr>
      <vt:lpstr>Database Design</vt:lpstr>
      <vt:lpstr>Database Design</vt:lpstr>
      <vt:lpstr>SYSTEM DESIGN</vt:lpstr>
      <vt:lpstr>System Implementation</vt:lpstr>
      <vt:lpstr>System Implementation</vt:lpstr>
      <vt:lpstr>System Implementation</vt:lpstr>
      <vt:lpstr>System Implementation</vt:lpstr>
      <vt:lpstr>PowerPoint Presentation</vt:lpstr>
      <vt:lpstr>PowerPoint Presentation</vt:lpstr>
      <vt:lpstr>Future Enhancements</vt:lpstr>
      <vt:lpstr>References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Zeroth Review</dc:title>
  <dc:creator>RESHMA BASAPATHI</dc:creator>
  <cp:lastModifiedBy>md ayisha</cp:lastModifiedBy>
  <cp:revision>55</cp:revision>
  <cp:lastPrinted>2025-10-14T18:21:49Z</cp:lastPrinted>
  <dcterms:created xsi:type="dcterms:W3CDTF">2025-10-10T08:28:06Z</dcterms:created>
  <dcterms:modified xsi:type="dcterms:W3CDTF">2026-04-07T05:49:13Z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LastSaved">
    <vt:filetime>2025-10-10T00:00:00Z</vt:filetime>
  </property>
</Properties>
</file>